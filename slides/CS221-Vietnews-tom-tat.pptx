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ROUGE-1</c:v>
                </c:pt>
              </c:strCache>
            </c:strRef>
          </c:tx>
          <c:spPr>
            <a:solidFill>
              <a:srgbClr val="1A1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Lead-3</c:v>
                  </c:pt>
                  <c:pt idx="1">
                    <c:v>TextRank</c:v>
                  </c:pt>
                  <c:pt idx="2">
                    <c:v>ViT5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25.07</c:v>
                </c:pt>
                <c:pt idx="1">
                  <c:v>24.28</c:v>
                </c:pt>
                <c:pt idx="2">
                  <c:v>26.64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ROUGE-2</c:v>
                </c:pt>
              </c:strCache>
            </c:strRef>
          </c:tx>
          <c:spPr>
            <a:solidFill>
              <a:srgbClr val="8A85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Lead-3</c:v>
                  </c:pt>
                  <c:pt idx="1">
                    <c:v>TextRank</c:v>
                  </c:pt>
                  <c:pt idx="2">
                    <c:v>ViT5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12.96</c:v>
                </c:pt>
                <c:pt idx="1">
                  <c:v>11</c:v>
                </c:pt>
                <c:pt idx="2">
                  <c:v>13.41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ROUGE-L</c:v>
                </c:pt>
              </c:strCache>
            </c:strRef>
          </c:tx>
          <c:spPr>
            <a:solidFill>
              <a:srgbClr val="B843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Lead-3</c:v>
                  </c:pt>
                  <c:pt idx="1">
                    <c:v>TextRank</c:v>
                  </c:pt>
                  <c:pt idx="2">
                    <c:v>ViT5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18.41</c:v>
                </c:pt>
                <c:pt idx="1">
                  <c:v>17.3</c:v>
                </c:pt>
                <c:pt idx="2">
                  <c:v>20.84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B2B2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8C0AE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F1 × 100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A85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solidFill>
      <a:srgbClr val="F7F3E8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2344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 ·  XỬ LÝ NGÔN NGỮ TỰ NHIÊN  ·  UIT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91640"/>
            <a:ext cx="10972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 sánh tóm tắt rút trích</a:t>
            </a:r>
            <a:endParaRPr lang="en-US" sz="3600" dirty="0"/>
          </a:p>
          <a:p>
            <a:pPr indent="0" marL="0">
              <a:buNone/>
            </a:pPr>
            <a:r>
              <a:rPr lang="en-US" sz="3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và tóm lược trên tin tức tiếng Việt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B84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comparative study of extractive and abstractive summarization on Vietnews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931920"/>
            <a:ext cx="2926080" cy="0"/>
          </a:xfrm>
          <a:prstGeom prst="line">
            <a:avLst/>
          </a:prstGeom>
          <a:noFill/>
          <a:ln w="25400">
            <a:solidFill>
              <a:srgbClr val="B843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40690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Lead-3  ·  TextRank  ·  ViT5 (checkpoint VietAI, không fine-tune)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bài test đầu  ·  ROUGE-1/2/L  ·  đọc tay 20 bài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48463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Nhóm 14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Nguyễn Trí Toàn  26410135    ·    Nguyễn Văn Thái  26410108    ·    Đỗ Quốc Hoàng  26410043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59893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GitHub: hoangdq08/vietnews-summarization-extractive-abstractive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NỘI DUNG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phút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14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Bốn khối báo cáo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11155680" cy="932688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75564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B84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691640" y="1682496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toán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691640" y="202996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Vì sao tóm tắt tin tiếng Việt; extractive vs abstractive.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2606040"/>
            <a:ext cx="11155680" cy="932688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80720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B84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691640" y="2734056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Phương pháp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691640" y="308152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Vietnews test-100, Lead-3, TextRank, ViT5 sẵn có.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2920" y="3657600"/>
            <a:ext cx="11155680" cy="932688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385876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B84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691640" y="3785616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quả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691640" y="413308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 n=100; đọc tay 20 bài — ViT5 cao điểm vẫn sai tên.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02920" y="4709160"/>
            <a:ext cx="11155680" cy="932688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49103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B84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691640" y="4837176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691640" y="518464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 cột trên máy / Docker. Không phụ thuộc Kaggle lúc bảo vệ.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ĐẶT VẤN ĐỀ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toán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1440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Bài báo dài. Người đọc cần vài câu đúng ý.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02920" y="1600200"/>
            <a:ext cx="5394960" cy="411480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63640" y="1600200"/>
            <a:ext cx="5394960" cy="4114800"/>
          </a:xfrm>
          <a:prstGeom prst="rect">
            <a:avLst/>
          </a:prstGeom>
          <a:solidFill>
            <a:srgbClr val="F2E5D0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7830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Máy có hai cách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219456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Rút trích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(extractive)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731520" y="324612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Chọn câu sẵn có trong bài, ghép lại. Ít bịa chữ mới. Có thể cụt, không liền mạch, lệch sapo.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0" y="17830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Máy có hai cách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92240" y="219456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Tóm lược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(abstractive)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6492240" y="324612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Viết câu mới. Mượt hơn. Có thể sai tên, sai số, đảo ý — ROUGE không bắt hết.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CÂU HỎI NGHIÊN CỨU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097280"/>
            <a:ext cx="11155680" cy="214884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371600"/>
            <a:ext cx="10515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FE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Trên cùng tập test tin tức tiếng Việt, Lead-3, TextRank và ViT5 khác nhau thế nào về ROUGE — và khi đọc tay thì mỗi hệ sai kiểu gì?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02920" y="3474720"/>
            <a:ext cx="3611880" cy="21945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65760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LÀM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406908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 lại ViT5 trên Vietnews. BERT+K-Means đa văn bản (trùng bài 8).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297680" y="3474720"/>
            <a:ext cx="3611880" cy="21945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26280" y="365760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 LÀM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26280" y="406908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 hệ, cùng 100 id test, ROUGE, 20 bài đọc tay, demo 3 cột.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092440" y="3474720"/>
            <a:ext cx="3611880" cy="21945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365760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 KẾT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321040" y="406908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ViT5 là checkpoint VietAI đã học Vietnews. Nhóm chạy sẵn, không nhận SOTA.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PHÁT BIỂU BÀI TOÁN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/ output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Một bài → một bản tóm tắt ngắn. Chấm với abstract mẫu.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508760"/>
            <a:ext cx="2103120" cy="82296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7373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FE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606040" y="1508760"/>
            <a:ext cx="9052560" cy="8229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34640" y="1709928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Thân bài tiếng Việt (Vietnews, đã tách từ sẵn).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02920" y="2468880"/>
            <a:ext cx="2103120" cy="82296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6974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FE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606040" y="2468880"/>
            <a:ext cx="9052560" cy="8229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834640" y="2670048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3–5 câu tóm tắt (Lead-3 / TextRank chọn câu; ViT5 sinh câu).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3429000"/>
            <a:ext cx="2103120" cy="82296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6576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FE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2606040" y="3429000"/>
            <a:ext cx="9052560" cy="8229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834640" y="3630168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abstract trong file (đoạn sapo, tách khỏi thân bằng dòng trống).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02920" y="4389120"/>
            <a:ext cx="2103120" cy="82296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617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FE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Độ đo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2606040" y="4389120"/>
            <a:ext cx="9052560" cy="8229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834640" y="4590288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ROUGE-1, ROUGE-2, ROUGE-L (F1). Cùng 100 id.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DỮ LIỆU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Vietnews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test_tokenized — 100 file đầu, đúng thứ tự tên.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508760"/>
            <a:ext cx="5577840" cy="11887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733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NGUỒN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github.com/ThanhChinhBK/vietnews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309360" y="1508760"/>
            <a:ext cx="5577840" cy="11887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16733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37960" y="201168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data/test_tokenized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02920" y="2834640"/>
            <a:ext cx="5577840" cy="11887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99923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L1/L2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333756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000001.txt.seg … 000100.txt.seg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309360" y="2834640"/>
            <a:ext cx="5577840" cy="11887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37960" y="299923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ĐỊNH DẠNG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7960" y="333756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/ abstract / thân bài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02920" y="4160520"/>
            <a:ext cx="5577840" cy="11887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32511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TÁCH TỪ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31520" y="466344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Sẵn dấu _ — không gọi lại underthesea trên gold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309360" y="4160520"/>
            <a:ext cx="5577840" cy="11887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37960" y="432511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CẤM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537960" y="466344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tự trộn train/test; không train trên Vietnews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PIPELINE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+ Kaggle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144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Extractive ở máy. Abstractive chỉ inference trên Kaggle T4.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11480" y="1554480"/>
            <a:ext cx="1828800" cy="39319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7373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B84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02920" y="246888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 file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" y="3566160"/>
            <a:ext cx="16093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title / gold / body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377440" y="1554480"/>
            <a:ext cx="1828800" cy="39319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77440" y="17373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B84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2468880" y="246888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Tách câu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487168" y="3566160"/>
            <a:ext cx="16093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dòng thân bài ≈ 1 câu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1828800" cy="39319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43400" y="17373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B84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4434840" y="246888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Lead-3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453128" y="3566160"/>
            <a:ext cx="16093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câu đầu, CPU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309360" y="1554480"/>
            <a:ext cx="1828800" cy="39319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17373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B84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6400800" y="246888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TextRank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19088" y="3566160"/>
            <a:ext cx="16093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+ cosine + PageRank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275320" y="1554480"/>
            <a:ext cx="1828800" cy="3931920"/>
          </a:xfrm>
          <a:prstGeom prst="rect">
            <a:avLst/>
          </a:prstGeom>
          <a:solidFill>
            <a:srgbClr val="F2E5D0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75320" y="17373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B84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8366760" y="246888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ViT5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385048" y="3566160"/>
            <a:ext cx="16093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Kaggle, T5Tokenizer, 4.44.2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0241280" y="1554480"/>
            <a:ext cx="1828800" cy="39319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241280" y="17373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B84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10332720" y="246888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0351008" y="3566160"/>
            <a:ext cx="16093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thay _ → space, rồi F1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BA HỆ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train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051560"/>
            <a:ext cx="3611880" cy="49377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28016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EXTRACTIVE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169164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Lead-3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731520" y="2560320"/>
            <a:ext cx="31546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 câu đầu thân bài. Baseline chuẩn tóm tắt tin. Không học.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97680" y="1051560"/>
            <a:ext cx="3611880" cy="49377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26280" y="128016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EXTRACTIVE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26280" y="169164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TextRank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526280" y="2560320"/>
            <a:ext cx="31546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câu, ma trận cosine, PageRank 40 vòng, lấy 3 câu theo thứ tự gốc.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092440" y="1051560"/>
            <a:ext cx="3611880" cy="4937760"/>
          </a:xfrm>
          <a:prstGeom prst="rect">
            <a:avLst/>
          </a:prstGeom>
          <a:solidFill>
            <a:srgbClr val="0B0B0B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128016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ABSTRACTIVE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321040" y="169164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FE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ViT5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321040" y="2560320"/>
            <a:ext cx="31546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FE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VietAI/vit5-base-vietnews-summarization. Không prefix; generate max_length=256. Không fine-tune.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THIẾT LẬP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Tái lập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144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Những gì đã chạy — không đoán thời gian GPU.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11155680" cy="4297680"/>
        </p:xfrm>
        <a:graphic>
          <a:graphicData uri="http://schemas.openxmlformats.org/drawingml/2006/table">
            <a:tbl>
              <a:tblPr/>
              <a:tblGrid>
                <a:gridCol w="2926080"/>
                <a:gridCol w="8229600"/>
              </a:tblGrid>
              <a:tr h="6139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EFE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Hạng mục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EFE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 tiết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Tập chấm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id đầu test_tokenized; file data/test_ids.txt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Extractive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 mini M4, CPU, sklearn TF-IDF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ViT5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Kaggle 2× Tesla T4; 1 GPU cuda:0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Tokenizer load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T5Tokenizer; gỡ transformers 5, cài 4.44.2 (tránh KeyError: 0)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truncation 1024; max_length 256; early_stopping=True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Gradio 3 cột; Docker vietnews-demo cổng 7860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KẾT QUẢ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100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8686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ROUGE F1  ·  thay “_” → space trên pred và ref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6766560" cy="3017520"/>
        </p:xfrm>
        <a:graphic>
          <a:graphicData uri="http://schemas.openxmlformats.org/drawingml/2006/table">
            <a:tbl>
              <a:tblPr/>
              <a:tblGrid>
                <a:gridCol w="2011680"/>
                <a:gridCol w="1581912"/>
                <a:gridCol w="1581912"/>
                <a:gridCol w="1591056"/>
              </a:tblGrid>
              <a:tr h="7543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EFE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Hệ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EFE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ROUGE-1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EFE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ROUGE-2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EFE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ROUGE-L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Lead-3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0.2507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0.1296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0.1841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TextRank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0.2428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0.1730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ViT5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5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0.2664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5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0.1341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5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0.2084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5D0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498080" y="1371600"/>
            <a:ext cx="4160520" cy="3017520"/>
          </a:xfrm>
          <a:prstGeom prst="rect">
            <a:avLst/>
          </a:prstGeom>
          <a:solidFill>
            <a:srgbClr val="0B0B0B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26680" y="15544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 bảng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726680" y="2011680"/>
            <a:ext cx="3749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FE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ViT5 cao hơn một chút trên 100 bài này. Lead-3 ≥ TextRank. Không copy số paper. Không kết luận SOTA.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02920" y="466344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Nếu giữ dấu “_”, ViT5 bị trừ oan vì model không sinh cá_nhân giống gold.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CÙNG MỘT BIỂU ĐỒ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× 100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457200" y="960120"/>
          <a:ext cx="1124712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10b  THEO ĐỘ DÀI BÀI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≈ 33 / nhóm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86868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Ngưỡng 300 / 500 từ — làm tròn tertile (p33≈298, p67≈492).</a:t>
            </a:r>
            <a:endParaRPr lang="en-US" sz="1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11155680" cy="2468880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2496312"/>
                <a:gridCol w="2496312"/>
                <a:gridCol w="2505456"/>
              </a:tblGrid>
              <a:tr h="6172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FE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Nhóm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FE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FE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Lead-3 R-1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FE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TextRank R-1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FE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ViT5 R-1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Ngắn  &lt;300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0.2581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0.2672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0.2919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Trung  300–499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0.2638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0.2409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0.2549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Dài  ≥500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0.2298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0.2194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0.2519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4023360"/>
            <a:ext cx="3611880" cy="169164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85800" y="416052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Ngắn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85800" y="457200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ViT5 cao nhất cả R-1/2/L.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297680" y="4023360"/>
            <a:ext cx="3611880" cy="169164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480560" y="416052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Trung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4480560" y="457200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Lead-3 cao nhất (0.2638).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092440" y="4023360"/>
            <a:ext cx="3611880" cy="169164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75320" y="416052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Dài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275320" y="457200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 ba giảm; ViT5 vẫn hơn extractive.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10c  N = 500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000001–000500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8686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ViT5 0,2784 &gt; Lead-1 0,2719. Oracle-3 ≈ 0,46.</a:t>
            </a:r>
            <a:endParaRPr lang="en-US" sz="2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6858000" cy="4206240"/>
        </p:xfrm>
        <a:graphic>
          <a:graphicData uri="http://schemas.openxmlformats.org/drawingml/2006/table">
            <a:tbl>
              <a:tblPr/>
              <a:tblGrid>
                <a:gridCol w="2011680"/>
                <a:gridCol w="1618488"/>
                <a:gridCol w="1618488"/>
                <a:gridCol w="1609344"/>
              </a:tblGrid>
              <a:tr h="6008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FE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Hệ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FE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ROUGE-1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FE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ROUGE-2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FE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ROUGE-L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Lead-1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0.2719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0.2092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Lead-3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0.2569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0.1294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0.1856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Lead-5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0.2256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TextRank-3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0.2499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0.1815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ViT5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0.1474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0.2233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E8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Oracle-3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5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0.4646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5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0.2793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5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5D0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589520" y="1371600"/>
            <a:ext cx="4069080" cy="4206240"/>
          </a:xfrm>
          <a:prstGeom prst="rect">
            <a:avLst/>
          </a:prstGeom>
          <a:solidFill>
            <a:srgbClr val="0B0B0B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18120" y="1554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 bảng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818120" y="2011680"/>
            <a:ext cx="3657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FE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Cùng generate n=100; 100 bài đầu trùng preds.json. Gold gần sapo nên Lead-1 đã cao. ViT5 hơn Lead-1 một chút. Oracle ≈ 0,46: extractive còn cửa, Lead-3 chưa chọn đúng câu.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12b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ĐỌC TAY 20 BÀI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 không đủ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14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ViT5 điểm cao hơn vẫn sai tên và số.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2194560" cy="11887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9202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FE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ViT5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697480" y="1554480"/>
            <a:ext cx="8961120" cy="11887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26080" y="1828800"/>
            <a:ext cx="8549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 tên / gán nhầm người; đảo polarity; bịa súng-dao; xe bồn thay máy ủi.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02920" y="2880360"/>
            <a:ext cx="2194560" cy="11887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2461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FE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Lead-3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2697480" y="2880360"/>
            <a:ext cx="8961120" cy="11887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26080" y="3154680"/>
            <a:ext cx="8549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Ít bịa (câu lấy từ bài). Hay lệch gold vì gold là sapo/kết luận.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206240"/>
            <a:ext cx="2194560" cy="11887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4572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FE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TextRank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2697480" y="4206240"/>
            <a:ext cx="8961120" cy="11887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926080" y="4480560"/>
            <a:ext cx="8549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Đôi khi nhảy đoạn hoặc trộn nhiều tin trong bài tổng hợp 24h.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 BA VÍ DỤ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Đối chiếu gold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051560"/>
            <a:ext cx="3657600" cy="489204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2344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4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000001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16002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Sai tên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2240280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Gold: Hồ Xuân Huy, 12 năm tù.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85800" y="393192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ViT5: Bùi Quang Huy / Vũ nhôm, 3,2 tỷ.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297680" y="1051560"/>
            <a:ext cx="3657600" cy="489204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26280" y="12344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4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000011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26280" y="16002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Bịa đối tượng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526280" y="2240280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Gold: trộm máy ủi, bán, mua dây chuyền.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26280" y="393192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ViT5: “xe bồn”, thuê sửa chữa.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138160" y="1051560"/>
            <a:ext cx="3657600" cy="489204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66760" y="12344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4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000036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366760" y="16002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Gán nhầm lời Dương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366760" y="2240280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Gold: Vĩnh chối Rolex 7.000 USD.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366760" y="393192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ViT5: Vĩnh “khai cho ông Vĩnh” 27 tỷ.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 DEMO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cần GPU lúc bảo vệ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 cột trên cùng một bài test.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3611880" cy="320040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78308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31520" y="2377440"/>
            <a:ext cx="3154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app/demo.py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http://127.0.0.1:7860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297680" y="1554480"/>
            <a:ext cx="3611880" cy="320040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26280" y="178308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Docker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526280" y="2377440"/>
            <a:ext cx="3154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start vietnews-demo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Cùng cổng 7860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092440" y="1554480"/>
            <a:ext cx="3611880" cy="320040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178308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Dữ liệu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321040" y="2377440"/>
            <a:ext cx="3154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preds.json có sẵn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Lead-3 / TextRank tính lúc chọn bài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02920" y="49834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Quay video 2 phút dự phòng nếu máy phòng máy không có Docker.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 KẾT LUẬN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Hạn chế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005840"/>
            <a:ext cx="5577840" cy="49377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63640" y="1005840"/>
            <a:ext cx="5394960" cy="4937760"/>
          </a:xfrm>
          <a:prstGeom prst="rect">
            <a:avLst/>
          </a:prstGeom>
          <a:solidFill>
            <a:srgbClr val="F2E5D0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1887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Nhận được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1691640"/>
            <a:ext cx="5074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Trên 100 bài test đầu, ViT5 ROUGE cao hơn Lead-3 và TextRank một chút. n=500: ViT5 0,2784 &gt; Lead-1 0,2719.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926080"/>
            <a:ext cx="5074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 tay 20 bài: ViT5 vẫn sai tên, đảo ý, bịa chi tiết — ROUGE không thay cho đối chiếu gold.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" y="4160520"/>
            <a:ext cx="5074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Lead-3 an toàn về chữ (lấy từ bài) nhưng hay lệch sapo.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11887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nhận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92240" y="169164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 tay / lệch số trên 100 bài; ROUGE 500 không thay error analysis.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92240" y="265176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ViT5 đã học Vietnews; không tách được “khả năng mô hình” với “đã thấy miền này”.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0" y="361188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dạng bản tin 24h (nhiều tin/bài) cả ba hệ đều yếu.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92240" y="457200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Chưa đo latency; chưa full test paper.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 NẾU LÀM TIẾP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Ngoài phạm vi đồ án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097280"/>
            <a:ext cx="1188720" cy="128016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46304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FE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1691640" y="1097280"/>
            <a:ext cx="9966960" cy="12801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965960" y="128016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 tay thêm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965960" y="173736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 rộng 20 bài; đếm sai tên/số có hệ thống.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02920" y="2560320"/>
            <a:ext cx="1188720" cy="128016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260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FE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1691640" y="2560320"/>
            <a:ext cx="9966960" cy="12801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65960" y="274320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đa tin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965960" y="320040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Tách bài “an ninh 24h” thành từng tin trước khi tóm.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02920" y="4023360"/>
            <a:ext cx="1188720" cy="128016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438912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FE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1691640" y="4023360"/>
            <a:ext cx="9966960" cy="12801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965960" y="420624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train trùng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965960" y="466344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Nếu fine-tune, phải miền khác Vietnews.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 TÀI LIỆU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Đã dùng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0972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Nguyen et al. — VNDS / Vietnews. https://github.com/ThanhChinhBK/vietnews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87452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Phan et al. 2022. ViT5. NAACL SRW. Checkpoint: VietAI/vit5-base-vietnews-summarization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6517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Lin 2004. ROUGE. Model card ViT5: không prefix, &lt;/s&gt;, max_length=256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42900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Mihalcea &amp; Tarau — TextRank. Lead-3: baseline tóm tắt tin.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4206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Repo nhóm: github.com/hoangdq08/vietnews-summarization-extractive-abstractive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 ·  HỎI ĐÁP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46888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EFE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Câu nào cũng được.</a:t>
            </a:r>
            <a:endParaRPr lang="en-US" sz="3200" dirty="0"/>
          </a:p>
          <a:p>
            <a:pPr indent="0" marL="0">
              <a:buNone/>
            </a:pPr>
            <a:r>
              <a:rPr lang="en-US" sz="3200" dirty="0">
                <a:solidFill>
                  <a:srgbClr val="EFE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Số liệu nằm trong results/.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52120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Demo: 127.0.0.1:7860   ·   Repo: hoangdq08/vietnews-summarization-extractive-abstractive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 sánh tóm tắt rút trích và tóm lược trên tin tức tiếng Việt</dc:title>
  <dc:subject>Đồ án NLP — Vietnews extractive vs abstractive</dc:subject>
  <dc:creator>CS221 · UIT</dc:creator>
  <cp:lastModifiedBy>CS221 · UIT</cp:lastModifiedBy>
  <cp:revision>1</cp:revision>
  <dcterms:created xsi:type="dcterms:W3CDTF">2026-09-10T11:48:55Z</dcterms:created>
  <dcterms:modified xsi:type="dcterms:W3CDTF">2026-09-10T11:48:55Z</dcterms:modified>
</cp:coreProperties>
</file>