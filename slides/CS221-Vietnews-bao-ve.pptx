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so sánh hai cách tóm tắt tin tiếng Việt. Rút trích lấy câu có sẵn. Tóm lược dùng checkpoint ViT5 có sẵn. Nhóm không huấn luyện model. Câu hỏi là trên cùng tập test, ba cách khác nhau thế nào về ROUGE, và khi đọc bài thì mỗi cách sai kiểu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đọc không kịp đọc hết bài báo. Máy có thể rút thành vài câu. Việc của nhóm là xem cách lấy câu sẵn và cách viết câu mới giữ ý đến đâu, chứ không phải xây một model mới.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là so sánh ba cách trên cùng tập, rồi đọc tay để xem mỗi cách sai kiểu gì. Mỗi lần nhóm tóm một bài. Bài giảng còn có hướng gom nhiều bài. Đồ án này làm từng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Đầu vào là thân bài. Đầu ra là bản tóm tắt ngắn. Sapo chỉ dùng để chấm. Nếu đưa sapo vào model rồi so lại với sapo, hệ đã biết đáp án. Khi kiểm nội dung, nhóm vẫn đọc thân bài, vì sapo không phải mọi sự thật trong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Rút trích giữ nguyên câu trong bài. Tóm lược viết câu mới, nên có thể viết sai sự việc. Ngay trong tập test, bài 000011 nói máy ủi, còn ViT5 viết xe bồn. Slide đọc tay sẽ đặt bài này cạnh một bài sai tên.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dùng bộ Vietnews đã công bố và checkpoint ViT5 đã công bố. Phần chấm là test đã tách từ. Thử trên 100 bài đầu, số báo cáo là 500 bài đầu, theo thứ tự tên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có bốn bước. Đọc file, tách câu, lấy bản ViT5 đã sinh, rồi chấm ROUGE. Lead-3 và TextRank tính tại máy. ViT5 không chạy lại lúc bảo vệ. Demo vì thế không cần Kaggle.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file, học_sinh là một từ có sẵn. Nhóm đọc dấu đó. Khi một dòng chưa hết câu, nhóm nối đến dấu chấm. Lúc chấm, dấu gạch dưới đổi thành khoảng trắng để so với sapo.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Lead-3 là mốc đơn giản. Nó lấy ba câu đầu, không học gì. Tin tiếng Việt thường mở bằng ý chính, nên mốc này có thể điểm khá cao. Nhóm dùng nó để xem TextRank và ViT5 có hơn thật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TextRank không train. Với mỗi bài, nhóm biến câu thành TF-IDF, tính độ giống bằng cosine, rồi PageRank 40 vòng. Ba câu điểm cao được trả về đúng thứ tự trong bài. Cách này vẫn là rút trích. Chưa có bước phạt hai câu trùng 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ViT5 là checkpoint VietAI đã học tóm tắt Vietnews. Nhóm không train tiếp. Khi sinh, nhóm đưa thân bài kèm ký hiệu kết thúc, giới hạn input 1024 token và output 256 token, không thêm prefix. 256 là giới hạn token của API, không phải 256 từ tiếng Việt.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chấm 100 bài trước, rồi mở rộng thành 500 bài đầu. Cả ba hệ dùng cùng danh sách bài và cùng cách ROUGE. ViT5 được sinh một lần trên Kaggle rồi lưu lại. Lúc bảo vệ chỉ đọc file đó. Nhóm không lấy số trong paper ra so, vì cách chấm của paper chưa đối chiếu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500 bài, ROUGE-1 của Lead-3 là 0.2569, TextRank 0.2499, ViT5 0.2784. Lead-1 đã là 0.2719, nên ViT5 chỉ hơn một câu đầu một ít. Số này là của tập nhóm đo. Bài báo chấm theo cách khác, nên nhóm để hai bảng đứng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lỗi đọc từ thân bài, không chỉ từ sapo. Bài 000021 viết Nguyễn Văn Được. ViT5 tách thành được cho là, nhưng ROUGE-1 vẫn 0.5161 vì nhiều chữ khác trùng. Bài 000011 nói máy ủi. ViT5 viết xe bồn, và xe bồn không có trong bài. Vì vậy nhóm không dừng ở bảng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demo bằng Docker: docker run --rm -p 7860:7860 vietnews-demo, rồi vào 127.0.0.1 cổng 7860. Không cài Python trên máy bảo vệ. Trên slide chỉ nói ba cột là gì. Khi đứng máy, chọn một bài, đọc thân bài, rồi chỉ một chỗ ViT5 khác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500 bài ViT5 nhỉnh về chữ trùng, nhưng sát Lead-1, và khi đọc bài vẫn sai tên hoặc sai đồ vật. Nhóm mới đọc tay khoảng 20 bài. Checkpoint giữ nguyên trọng số lúc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làm tiếp, nhóm muốn đọc lỗi có hệ thống hơn, và xử lý những bài sapo gom nhiều tin. Nhóm không train thêm trên chính tập test đang dùng để chấm. Những việc này nằm ngoài phạm vi bản bảo vệ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nguồn này để kiểm dữ liệu, bài báo ViT5, checkpoint và code của nhóm. Hết slide này là hết bài nói.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640080" y="1051560"/>
            <a:ext cx="10972800" cy="292608"/>
          </a:xfrm>
          <a:prstGeom prst="rect">
            <a:avLst/>
          </a:prstGeom>
          <a:noFill/>
          <a:ln/>
        </p:spPr>
        <p:txBody>
          <a:bodyPr wrap="square" lIns="0" tIns="0" rIns="0" bIns="0" rtlCol="0" anchor="ctr"/>
          <a:lstStyle/>
          <a:p>
            <a:pPr indent="0" marL="0">
              <a:buNone/>
            </a:pPr>
            <a:r>
              <a:rPr lang="en-US" sz="1400" spc="140" kern="0" dirty="0">
                <a:solidFill>
                  <a:srgbClr val="8A8578"/>
                </a:solidFill>
                <a:latin typeface="Calibri" pitchFamily="34" charset="0"/>
                <a:ea typeface="Calibri" pitchFamily="34" charset="-122"/>
                <a:cs typeface="Calibri" pitchFamily="34" charset="-120"/>
              </a:rPr>
              <a:t>CS221  ·  XỬ LÝ NGÔN NGỮ TỰ NHIÊN  ·  UIT</a:t>
            </a:r>
            <a:endParaRPr lang="en-US" sz="1400" dirty="0"/>
          </a:p>
        </p:txBody>
      </p:sp>
      <p:sp>
        <p:nvSpPr>
          <p:cNvPr id="3" name="Text 1"/>
          <p:cNvSpPr/>
          <p:nvPr/>
        </p:nvSpPr>
        <p:spPr>
          <a:xfrm>
            <a:off x="640080" y="1508760"/>
            <a:ext cx="10972800" cy="1417320"/>
          </a:xfrm>
          <a:prstGeom prst="rect">
            <a:avLst/>
          </a:prstGeom>
          <a:noFill/>
          <a:ln/>
        </p:spPr>
        <p:txBody>
          <a:bodyPr wrap="square" lIns="0" tIns="0" rIns="0" bIns="0" rtlCol="0" anchor="ctr"/>
          <a:lstStyle/>
          <a:p>
            <a:pPr indent="0" marL="0">
              <a:buNone/>
            </a:pPr>
            <a:r>
              <a:rPr lang="en-US" sz="3400" dirty="0">
                <a:solidFill>
                  <a:srgbClr val="1A1A1A"/>
                </a:solidFill>
                <a:latin typeface="Georgia" pitchFamily="34" charset="0"/>
                <a:ea typeface="Georgia" pitchFamily="34" charset="-122"/>
                <a:cs typeface="Georgia" pitchFamily="34" charset="-120"/>
              </a:rPr>
              <a:t>So sánh tóm tắt rút trích</a:t>
            </a:r>
            <a:endParaRPr lang="en-US" sz="3400" dirty="0"/>
          </a:p>
          <a:p>
            <a:pPr indent="0" marL="0">
              <a:buNone/>
            </a:pPr>
            <a:r>
              <a:rPr lang="en-US" sz="3400" dirty="0">
                <a:solidFill>
                  <a:srgbClr val="1A1A1A"/>
                </a:solidFill>
                <a:latin typeface="Georgia" pitchFamily="34" charset="0"/>
                <a:ea typeface="Georgia" pitchFamily="34" charset="-122"/>
                <a:cs typeface="Georgia" pitchFamily="34" charset="-120"/>
              </a:rPr>
              <a:t>và tóm lược trên tin tức tiếng Việt</a:t>
            </a:r>
            <a:endParaRPr lang="en-US" sz="3400" dirty="0"/>
          </a:p>
        </p:txBody>
      </p:sp>
      <p:sp>
        <p:nvSpPr>
          <p:cNvPr id="4" name="Text 2"/>
          <p:cNvSpPr/>
          <p:nvPr/>
        </p:nvSpPr>
        <p:spPr>
          <a:xfrm>
            <a:off x="640080" y="3154680"/>
            <a:ext cx="10058400" cy="347472"/>
          </a:xfrm>
          <a:prstGeom prst="rect">
            <a:avLst/>
          </a:prstGeom>
          <a:noFill/>
          <a:ln/>
        </p:spPr>
        <p:txBody>
          <a:bodyPr wrap="square" lIns="0" tIns="0" rIns="0" bIns="0" rtlCol="0" anchor="ctr"/>
          <a:lstStyle/>
          <a:p>
            <a:pPr indent="0" marL="0">
              <a:buNone/>
            </a:pPr>
            <a:r>
              <a:rPr lang="en-US" sz="1800" i="1" dirty="0">
                <a:solidFill>
                  <a:srgbClr val="B8432A"/>
                </a:solidFill>
                <a:latin typeface="Georgia" pitchFamily="34" charset="0"/>
                <a:ea typeface="Georgia" pitchFamily="34" charset="-122"/>
                <a:cs typeface="Georgia" pitchFamily="34" charset="-120"/>
              </a:rPr>
              <a:t>Lead-3   ·   TextRank   ·   ViT5 dùng checkpoint có sẵn</a:t>
            </a:r>
            <a:endParaRPr lang="en-US" sz="1800" dirty="0"/>
          </a:p>
        </p:txBody>
      </p:sp>
      <p:sp>
        <p:nvSpPr>
          <p:cNvPr id="5" name="Text 3"/>
          <p:cNvSpPr/>
          <p:nvPr/>
        </p:nvSpPr>
        <p:spPr>
          <a:xfrm>
            <a:off x="640080" y="3931920"/>
            <a:ext cx="10058400" cy="3200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Nhóm 14</a:t>
            </a:r>
            <a:endParaRPr lang="en-US" sz="1600" dirty="0"/>
          </a:p>
        </p:txBody>
      </p:sp>
      <p:sp>
        <p:nvSpPr>
          <p:cNvPr id="6" name="Text 4"/>
          <p:cNvSpPr/>
          <p:nvPr/>
        </p:nvSpPr>
        <p:spPr>
          <a:xfrm>
            <a:off x="640080" y="4297680"/>
            <a:ext cx="10058400" cy="114300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Nguyễn Trí Toàn    26410135</a:t>
            </a:r>
            <a:endParaRPr lang="en-US" sz="1600" dirty="0"/>
          </a:p>
          <a:p>
            <a:pPr indent="0" marL="0">
              <a:buNone/>
            </a:pPr>
            <a:r>
              <a:rPr lang="en-US" sz="1600" dirty="0">
                <a:solidFill>
                  <a:srgbClr val="2B2B2B"/>
                </a:solidFill>
                <a:latin typeface="Calibri" pitchFamily="34" charset="0"/>
                <a:ea typeface="Calibri" pitchFamily="34" charset="-122"/>
                <a:cs typeface="Calibri" pitchFamily="34" charset="-120"/>
              </a:rPr>
              <a:t>Nguyễn Văn Thái    26410108</a:t>
            </a:r>
            <a:endParaRPr lang="en-US" sz="1600" dirty="0"/>
          </a:p>
          <a:p>
            <a:pPr indent="0" marL="0">
              <a:buNone/>
            </a:pPr>
            <a:r>
              <a:rPr lang="en-US" sz="1600" dirty="0">
                <a:solidFill>
                  <a:srgbClr val="2B2B2B"/>
                </a:solidFill>
                <a:latin typeface="Calibri" pitchFamily="34" charset="0"/>
                <a:ea typeface="Calibri" pitchFamily="34" charset="-122"/>
                <a:cs typeface="Calibri" pitchFamily="34" charset="-120"/>
              </a:rPr>
              <a:t>Đỗ Quốc Hoàng    26410043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02   ĐẶT VẤN ĐỀ</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Vì sao cần tóm tắt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Bài báo dài. Người đọc cần vài câu đúng ý.</a:t>
            </a:r>
            <a:endParaRPr lang="en-US" sz="2800" dirty="0"/>
          </a:p>
        </p:txBody>
      </p:sp>
      <p:sp>
        <p:nvSpPr>
          <p:cNvPr id="5" name="Shape 3"/>
          <p:cNvSpPr/>
          <p:nvPr/>
        </p:nvSpPr>
        <p:spPr>
          <a:xfrm>
            <a:off x="502920" y="1417320"/>
            <a:ext cx="11155680" cy="1389888"/>
          </a:xfrm>
          <a:prstGeom prst="rect">
            <a:avLst/>
          </a:prstGeom>
          <a:solidFill>
            <a:srgbClr val="F7F3E8"/>
          </a:solidFill>
          <a:ln w="9525">
            <a:solidFill>
              <a:srgbClr val="C8C0AE"/>
            </a:solidFill>
            <a:prstDash val="solid"/>
          </a:ln>
        </p:spPr>
      </p:sp>
      <p:sp>
        <p:nvSpPr>
          <p:cNvPr id="6" name="Text 4"/>
          <p:cNvSpPr/>
          <p:nvPr/>
        </p:nvSpPr>
        <p:spPr>
          <a:xfrm>
            <a:off x="777240" y="1618488"/>
            <a:ext cx="10607040" cy="365760"/>
          </a:xfrm>
          <a:prstGeom prst="rect">
            <a:avLst/>
          </a:prstGeom>
          <a:noFill/>
          <a:ln/>
        </p:spPr>
        <p:txBody>
          <a:bodyPr wrap="square" lIns="0" tIns="0" rIns="0" bIns="0" rtlCol="0" anchor="ctr"/>
          <a:lstStyle/>
          <a:p>
            <a:pPr indent="0" marL="0">
              <a:buNone/>
            </a:pPr>
            <a:r>
              <a:rPr lang="en-US" sz="2000" dirty="0">
                <a:solidFill>
                  <a:srgbClr val="B8432A"/>
                </a:solidFill>
                <a:latin typeface="Calibri" pitchFamily="34" charset="0"/>
                <a:ea typeface="Calibri" pitchFamily="34" charset="-122"/>
                <a:cs typeface="Calibri" pitchFamily="34" charset="-120"/>
              </a:rPr>
              <a:t>Tin tức dài</a:t>
            </a:r>
            <a:endParaRPr lang="en-US" sz="2000" dirty="0"/>
          </a:p>
        </p:txBody>
      </p:sp>
      <p:sp>
        <p:nvSpPr>
          <p:cNvPr id="7" name="Text 5"/>
          <p:cNvSpPr/>
          <p:nvPr/>
        </p:nvSpPr>
        <p:spPr>
          <a:xfrm>
            <a:off x="777240" y="2075688"/>
            <a:ext cx="1060704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Một bài có thể vài trăm từ. Người đọc cần nắm việc chính mà không đọc hết.</a:t>
            </a:r>
            <a:endParaRPr lang="en-US" sz="1800" dirty="0"/>
          </a:p>
        </p:txBody>
      </p:sp>
      <p:sp>
        <p:nvSpPr>
          <p:cNvPr id="8" name="Shape 6"/>
          <p:cNvSpPr/>
          <p:nvPr/>
        </p:nvSpPr>
        <p:spPr>
          <a:xfrm>
            <a:off x="502920" y="2971800"/>
            <a:ext cx="11155680" cy="1389888"/>
          </a:xfrm>
          <a:prstGeom prst="rect">
            <a:avLst/>
          </a:prstGeom>
          <a:solidFill>
            <a:srgbClr val="F7F3E8"/>
          </a:solidFill>
          <a:ln w="9525">
            <a:solidFill>
              <a:srgbClr val="C8C0AE"/>
            </a:solidFill>
            <a:prstDash val="solid"/>
          </a:ln>
        </p:spPr>
      </p:sp>
      <p:sp>
        <p:nvSpPr>
          <p:cNvPr id="9" name="Text 7"/>
          <p:cNvSpPr/>
          <p:nvPr/>
        </p:nvSpPr>
        <p:spPr>
          <a:xfrm>
            <a:off x="777240" y="3172968"/>
            <a:ext cx="10607040" cy="365760"/>
          </a:xfrm>
          <a:prstGeom prst="rect">
            <a:avLst/>
          </a:prstGeom>
          <a:noFill/>
          <a:ln/>
        </p:spPr>
        <p:txBody>
          <a:bodyPr wrap="square" lIns="0" tIns="0" rIns="0" bIns="0" rtlCol="0" anchor="ctr"/>
          <a:lstStyle/>
          <a:p>
            <a:pPr indent="0" marL="0">
              <a:buNone/>
            </a:pPr>
            <a:r>
              <a:rPr lang="en-US" sz="2000" dirty="0">
                <a:solidFill>
                  <a:srgbClr val="B8432A"/>
                </a:solidFill>
                <a:latin typeface="Calibri" pitchFamily="34" charset="0"/>
                <a:ea typeface="Calibri" pitchFamily="34" charset="-122"/>
                <a:cs typeface="Calibri" pitchFamily="34" charset="-120"/>
              </a:rPr>
              <a:t>Bản ngắn hơn</a:t>
            </a:r>
            <a:endParaRPr lang="en-US" sz="2000" dirty="0"/>
          </a:p>
        </p:txBody>
      </p:sp>
      <p:sp>
        <p:nvSpPr>
          <p:cNvPr id="10" name="Text 8"/>
          <p:cNvSpPr/>
          <p:nvPr/>
        </p:nvSpPr>
        <p:spPr>
          <a:xfrm>
            <a:off x="777240" y="3630168"/>
            <a:ext cx="1060704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Hệ đọc thân bài rồi viết lại thành vài câu.</a:t>
            </a:r>
            <a:endParaRPr lang="en-US" sz="1800" dirty="0"/>
          </a:p>
        </p:txBody>
      </p:sp>
      <p:sp>
        <p:nvSpPr>
          <p:cNvPr id="11" name="Shape 9"/>
          <p:cNvSpPr/>
          <p:nvPr/>
        </p:nvSpPr>
        <p:spPr>
          <a:xfrm>
            <a:off x="502920" y="4526280"/>
            <a:ext cx="11155680" cy="1389888"/>
          </a:xfrm>
          <a:prstGeom prst="rect">
            <a:avLst/>
          </a:prstGeom>
          <a:solidFill>
            <a:srgbClr val="F7F3E8"/>
          </a:solidFill>
          <a:ln w="9525">
            <a:solidFill>
              <a:srgbClr val="C8C0AE"/>
            </a:solidFill>
            <a:prstDash val="solid"/>
          </a:ln>
        </p:spPr>
      </p:sp>
      <p:sp>
        <p:nvSpPr>
          <p:cNvPr id="12" name="Text 10"/>
          <p:cNvSpPr/>
          <p:nvPr/>
        </p:nvSpPr>
        <p:spPr>
          <a:xfrm>
            <a:off x="777240" y="4727448"/>
            <a:ext cx="10607040" cy="365760"/>
          </a:xfrm>
          <a:prstGeom prst="rect">
            <a:avLst/>
          </a:prstGeom>
          <a:noFill/>
          <a:ln/>
        </p:spPr>
        <p:txBody>
          <a:bodyPr wrap="square" lIns="0" tIns="0" rIns="0" bIns="0" rtlCol="0" anchor="ctr"/>
          <a:lstStyle/>
          <a:p>
            <a:pPr indent="0" marL="0">
              <a:buNone/>
            </a:pPr>
            <a:r>
              <a:rPr lang="en-US" sz="2000" dirty="0">
                <a:solidFill>
                  <a:srgbClr val="B8432A"/>
                </a:solidFill>
                <a:latin typeface="Calibri" pitchFamily="34" charset="0"/>
                <a:ea typeface="Calibri" pitchFamily="34" charset="-122"/>
                <a:cs typeface="Calibri" pitchFamily="34" charset="-120"/>
              </a:rPr>
              <a:t>Dễ sai</a:t>
            </a:r>
            <a:endParaRPr lang="en-US" sz="2000" dirty="0"/>
          </a:p>
        </p:txBody>
      </p:sp>
      <p:sp>
        <p:nvSpPr>
          <p:cNvPr id="13" name="Text 11"/>
          <p:cNvSpPr/>
          <p:nvPr/>
        </p:nvSpPr>
        <p:spPr>
          <a:xfrm>
            <a:off x="777240" y="5184648"/>
            <a:ext cx="1060704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Bản ngắn có thể bỏ mất ý, hoặc thêm điều bài không nói.</a:t>
            </a:r>
            <a:endParaRPr lang="en-US" sz="18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03   MỤC TIÊU</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Câu hỏi của đồ án</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cách, cùng một tập test</a:t>
            </a:r>
            <a:endParaRPr lang="en-US" sz="2800" dirty="0"/>
          </a:p>
        </p:txBody>
      </p:sp>
      <p:sp>
        <p:nvSpPr>
          <p:cNvPr id="5" name="Shape 3"/>
          <p:cNvSpPr/>
          <p:nvPr/>
        </p:nvSpPr>
        <p:spPr>
          <a:xfrm>
            <a:off x="502920" y="1371600"/>
            <a:ext cx="11155680" cy="1965960"/>
          </a:xfrm>
          <a:prstGeom prst="rect">
            <a:avLst/>
          </a:prstGeom>
          <a:solidFill>
            <a:srgbClr val="F2E5D0"/>
          </a:solidFill>
          <a:ln w="9525">
            <a:solidFill>
              <a:srgbClr val="C8C0AE"/>
            </a:solidFill>
            <a:prstDash val="solid"/>
          </a:ln>
        </p:spPr>
      </p:sp>
      <p:sp>
        <p:nvSpPr>
          <p:cNvPr id="6" name="Text 4"/>
          <p:cNvSpPr/>
          <p:nvPr/>
        </p:nvSpPr>
        <p:spPr>
          <a:xfrm>
            <a:off x="777240" y="1600200"/>
            <a:ext cx="10607040" cy="1508760"/>
          </a:xfrm>
          <a:prstGeom prst="rect">
            <a:avLst/>
          </a:prstGeom>
          <a:noFill/>
          <a:ln/>
        </p:spPr>
        <p:txBody>
          <a:bodyPr wrap="square" lIns="0" tIns="0" rIns="0" bIns="0" rtlCol="0" anchor="ctr"/>
          <a:lstStyle/>
          <a:p>
            <a:pPr indent="0" marL="0">
              <a:buNone/>
            </a:pPr>
            <a:r>
              <a:rPr lang="en-US" sz="2400" dirty="0">
                <a:solidFill>
                  <a:srgbClr val="1A1A1A"/>
                </a:solidFill>
                <a:latin typeface="Georgia" pitchFamily="34" charset="0"/>
                <a:ea typeface="Georgia" pitchFamily="34" charset="-122"/>
                <a:cs typeface="Georgia" pitchFamily="34" charset="-120"/>
              </a:rPr>
              <a:t>Trên cùng tập test, Lead-3, TextRank và ViT5 khác nhau thế nào về ROUGE, và khi đọc tay thì mỗi hệ sai kiểu gì?</a:t>
            </a:r>
            <a:endParaRPr lang="en-US" sz="2400" dirty="0"/>
          </a:p>
        </p:txBody>
      </p:sp>
      <p:sp>
        <p:nvSpPr>
          <p:cNvPr id="7" name="Shape 5"/>
          <p:cNvSpPr/>
          <p:nvPr/>
        </p:nvSpPr>
        <p:spPr>
          <a:xfrm>
            <a:off x="502920" y="3566160"/>
            <a:ext cx="5577840" cy="2468880"/>
          </a:xfrm>
          <a:prstGeom prst="rect">
            <a:avLst/>
          </a:prstGeom>
          <a:solidFill>
            <a:srgbClr val="F7F3E8"/>
          </a:solidFill>
          <a:ln w="9525">
            <a:solidFill>
              <a:srgbClr val="C8C0AE"/>
            </a:solidFill>
            <a:prstDash val="solid"/>
          </a:ln>
        </p:spPr>
      </p:sp>
      <p:sp>
        <p:nvSpPr>
          <p:cNvPr id="8" name="Text 6"/>
          <p:cNvSpPr/>
          <p:nvPr/>
        </p:nvSpPr>
        <p:spPr>
          <a:xfrm>
            <a:off x="777240" y="374904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Nhóm làm</a:t>
            </a:r>
            <a:endParaRPr lang="en-US" sz="1600" dirty="0"/>
          </a:p>
        </p:txBody>
      </p:sp>
      <p:sp>
        <p:nvSpPr>
          <p:cNvPr id="9" name="Text 7"/>
          <p:cNvSpPr/>
          <p:nvPr/>
        </p:nvSpPr>
        <p:spPr>
          <a:xfrm>
            <a:off x="777240" y="4251960"/>
            <a:ext cx="5029200" cy="14630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Chạy ba cách trên Vietnews, chấm ROUGE, rồi đọc vài bài để xem sai chỗ nào.</a:t>
            </a:r>
            <a:endParaRPr lang="en-US" sz="1800" dirty="0"/>
          </a:p>
        </p:txBody>
      </p:sp>
      <p:sp>
        <p:nvSpPr>
          <p:cNvPr id="10" name="Shape 8"/>
          <p:cNvSpPr/>
          <p:nvPr/>
        </p:nvSpPr>
        <p:spPr>
          <a:xfrm>
            <a:off x="6309360" y="3566160"/>
            <a:ext cx="5577840" cy="2468880"/>
          </a:xfrm>
          <a:prstGeom prst="rect">
            <a:avLst/>
          </a:prstGeom>
          <a:solidFill>
            <a:srgbClr val="F7F3E8"/>
          </a:solidFill>
          <a:ln w="9525">
            <a:solidFill>
              <a:srgbClr val="C8C0AE"/>
            </a:solidFill>
            <a:prstDash val="solid"/>
          </a:ln>
        </p:spPr>
      </p:sp>
      <p:sp>
        <p:nvSpPr>
          <p:cNvPr id="11" name="Text 9"/>
          <p:cNvSpPr/>
          <p:nvPr/>
        </p:nvSpPr>
        <p:spPr>
          <a:xfrm>
            <a:off x="6583680" y="374904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Giới hạn</a:t>
            </a:r>
            <a:endParaRPr lang="en-US" sz="1600" dirty="0"/>
          </a:p>
        </p:txBody>
      </p:sp>
      <p:sp>
        <p:nvSpPr>
          <p:cNvPr id="12" name="Text 10"/>
          <p:cNvSpPr/>
          <p:nvPr/>
        </p:nvSpPr>
        <p:spPr>
          <a:xfrm>
            <a:off x="6583680" y="4251960"/>
            <a:ext cx="5029200" cy="14630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Mỗi lần tóm một bài. Bài giảng có phần gom nhiều bài. Đồ án này chỉ làm từng bài.</a:t>
            </a:r>
            <a:endParaRPr lang="en-US" sz="1800" dirty="0"/>
          </a:p>
        </p:txBody>
      </p:sp>
      <p:sp>
        <p:nvSpPr>
          <p:cNvPr id="13" name="Text 11"/>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4" name="Text 12"/>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04   BÀI TOÁN</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Đầu vào và đầu ra</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Một bài vào. Một bản tóm tắt ra.</a:t>
            </a:r>
            <a:endParaRPr lang="en-US" sz="2800" dirty="0"/>
          </a:p>
        </p:txBody>
      </p:sp>
      <p:sp>
        <p:nvSpPr>
          <p:cNvPr id="5" name="Shape 3"/>
          <p:cNvSpPr/>
          <p:nvPr/>
        </p:nvSpPr>
        <p:spPr>
          <a:xfrm>
            <a:off x="502920" y="1417320"/>
            <a:ext cx="3611880" cy="4617720"/>
          </a:xfrm>
          <a:prstGeom prst="rect">
            <a:avLst/>
          </a:prstGeom>
          <a:solidFill>
            <a:srgbClr val="F7F3E8"/>
          </a:solidFill>
          <a:ln w="9525">
            <a:solidFill>
              <a:srgbClr val="C8C0AE"/>
            </a:solidFill>
            <a:prstDash val="solid"/>
          </a:ln>
        </p:spPr>
      </p:sp>
      <p:sp>
        <p:nvSpPr>
          <p:cNvPr id="6" name="Text 4"/>
          <p:cNvSpPr/>
          <p:nvPr/>
        </p:nvSpPr>
        <p:spPr>
          <a:xfrm>
            <a:off x="731520" y="1645920"/>
            <a:ext cx="3154680" cy="320040"/>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Đầu vào</a:t>
            </a:r>
            <a:endParaRPr lang="en-US" sz="1400" dirty="0"/>
          </a:p>
        </p:txBody>
      </p:sp>
      <p:sp>
        <p:nvSpPr>
          <p:cNvPr id="7" name="Text 5"/>
          <p:cNvSpPr/>
          <p:nvPr/>
        </p:nvSpPr>
        <p:spPr>
          <a:xfrm>
            <a:off x="731520" y="2103120"/>
            <a:ext cx="3154680" cy="1234440"/>
          </a:xfrm>
          <a:prstGeom prst="rect">
            <a:avLst/>
          </a:prstGeom>
          <a:noFill/>
          <a:ln/>
        </p:spPr>
        <p:txBody>
          <a:bodyPr wrap="square" lIns="0" tIns="0" rIns="0" bIns="0" rtlCol="0" anchor="ctr"/>
          <a:lstStyle/>
          <a:p>
            <a:pPr indent="0" marL="0">
              <a:buNone/>
            </a:pPr>
            <a:r>
              <a:rPr lang="en-US" sz="2600" dirty="0">
                <a:solidFill>
                  <a:srgbClr val="1A1A1A"/>
                </a:solidFill>
                <a:latin typeface="Georgia" pitchFamily="34" charset="0"/>
                <a:ea typeface="Georgia" pitchFamily="34" charset="-122"/>
                <a:cs typeface="Georgia" pitchFamily="34" charset="-120"/>
              </a:rPr>
              <a:t>Thân bài tiếng Việt</a:t>
            </a:r>
            <a:endParaRPr lang="en-US" sz="2600" dirty="0"/>
          </a:p>
        </p:txBody>
      </p:sp>
      <p:sp>
        <p:nvSpPr>
          <p:cNvPr id="8" name="Text 6"/>
          <p:cNvSpPr/>
          <p:nvPr/>
        </p:nvSpPr>
        <p:spPr>
          <a:xfrm>
            <a:off x="731520" y="3566160"/>
            <a:ext cx="315468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Hệ chỉ đọc phần thân. Tiêu đề dùng để biết đó là bài nào.</a:t>
            </a:r>
            <a:endParaRPr lang="en-US" sz="1600" dirty="0"/>
          </a:p>
        </p:txBody>
      </p:sp>
      <p:sp>
        <p:nvSpPr>
          <p:cNvPr id="9" name="Shape 7"/>
          <p:cNvSpPr/>
          <p:nvPr/>
        </p:nvSpPr>
        <p:spPr>
          <a:xfrm>
            <a:off x="4343400" y="1417320"/>
            <a:ext cx="3611880" cy="4617720"/>
          </a:xfrm>
          <a:prstGeom prst="rect">
            <a:avLst/>
          </a:prstGeom>
          <a:solidFill>
            <a:srgbClr val="F7F3E8"/>
          </a:solidFill>
          <a:ln w="9525">
            <a:solidFill>
              <a:srgbClr val="C8C0AE"/>
            </a:solidFill>
            <a:prstDash val="solid"/>
          </a:ln>
        </p:spPr>
      </p:sp>
      <p:sp>
        <p:nvSpPr>
          <p:cNvPr id="10" name="Text 8"/>
          <p:cNvSpPr/>
          <p:nvPr/>
        </p:nvSpPr>
        <p:spPr>
          <a:xfrm>
            <a:off x="4572000" y="1645920"/>
            <a:ext cx="3154680" cy="320040"/>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Đầu ra</a:t>
            </a:r>
            <a:endParaRPr lang="en-US" sz="1400" dirty="0"/>
          </a:p>
        </p:txBody>
      </p:sp>
      <p:sp>
        <p:nvSpPr>
          <p:cNvPr id="11" name="Text 9"/>
          <p:cNvSpPr/>
          <p:nvPr/>
        </p:nvSpPr>
        <p:spPr>
          <a:xfrm>
            <a:off x="4572000" y="2103120"/>
            <a:ext cx="3154680" cy="1234440"/>
          </a:xfrm>
          <a:prstGeom prst="rect">
            <a:avLst/>
          </a:prstGeom>
          <a:noFill/>
          <a:ln/>
        </p:spPr>
        <p:txBody>
          <a:bodyPr wrap="square" lIns="0" tIns="0" rIns="0" bIns="0" rtlCol="0" anchor="ctr"/>
          <a:lstStyle/>
          <a:p>
            <a:pPr indent="0" marL="0">
              <a:buNone/>
            </a:pPr>
            <a:r>
              <a:rPr lang="en-US" sz="2600" dirty="0">
                <a:solidFill>
                  <a:srgbClr val="1A1A1A"/>
                </a:solidFill>
                <a:latin typeface="Georgia" pitchFamily="34" charset="0"/>
                <a:ea typeface="Georgia" pitchFamily="34" charset="-122"/>
                <a:cs typeface="Georgia" pitchFamily="34" charset="-120"/>
              </a:rPr>
              <a:t>Bản tóm tắt ngắn</a:t>
            </a:r>
            <a:endParaRPr lang="en-US" sz="2600" dirty="0"/>
          </a:p>
        </p:txBody>
      </p:sp>
      <p:sp>
        <p:nvSpPr>
          <p:cNvPr id="12" name="Text 10"/>
          <p:cNvSpPr/>
          <p:nvPr/>
        </p:nvSpPr>
        <p:spPr>
          <a:xfrm>
            <a:off x="4572000" y="3566160"/>
            <a:ext cx="315468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Lead-3 và TextRank lấy câu có sẵn. ViT5 viết câu mới.</a:t>
            </a:r>
            <a:endParaRPr lang="en-US" sz="1600" dirty="0"/>
          </a:p>
        </p:txBody>
      </p:sp>
      <p:sp>
        <p:nvSpPr>
          <p:cNvPr id="13" name="Shape 11"/>
          <p:cNvSpPr/>
          <p:nvPr/>
        </p:nvSpPr>
        <p:spPr>
          <a:xfrm>
            <a:off x="8183880" y="1417320"/>
            <a:ext cx="3611880" cy="4617720"/>
          </a:xfrm>
          <a:prstGeom prst="rect">
            <a:avLst/>
          </a:prstGeom>
          <a:solidFill>
            <a:srgbClr val="F2E5D0"/>
          </a:solidFill>
          <a:ln w="9525">
            <a:solidFill>
              <a:srgbClr val="C8C0AE"/>
            </a:solidFill>
            <a:prstDash val="solid"/>
          </a:ln>
        </p:spPr>
      </p:sp>
      <p:sp>
        <p:nvSpPr>
          <p:cNvPr id="14" name="Text 12"/>
          <p:cNvSpPr/>
          <p:nvPr/>
        </p:nvSpPr>
        <p:spPr>
          <a:xfrm>
            <a:off x="8412480" y="1645920"/>
            <a:ext cx="3154680" cy="320040"/>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Để chấm</a:t>
            </a:r>
            <a:endParaRPr lang="en-US" sz="1400" dirty="0"/>
          </a:p>
        </p:txBody>
      </p:sp>
      <p:sp>
        <p:nvSpPr>
          <p:cNvPr id="15" name="Text 13"/>
          <p:cNvSpPr/>
          <p:nvPr/>
        </p:nvSpPr>
        <p:spPr>
          <a:xfrm>
            <a:off x="8412480" y="2103120"/>
            <a:ext cx="3154680" cy="1234440"/>
          </a:xfrm>
          <a:prstGeom prst="rect">
            <a:avLst/>
          </a:prstGeom>
          <a:noFill/>
          <a:ln/>
        </p:spPr>
        <p:txBody>
          <a:bodyPr wrap="square" lIns="0" tIns="0" rIns="0" bIns="0" rtlCol="0" anchor="ctr"/>
          <a:lstStyle/>
          <a:p>
            <a:pPr indent="0" marL="0">
              <a:buNone/>
            </a:pPr>
            <a:r>
              <a:rPr lang="en-US" sz="2600" dirty="0">
                <a:solidFill>
                  <a:srgbClr val="1A1A1A"/>
                </a:solidFill>
                <a:latin typeface="Georgia" pitchFamily="34" charset="0"/>
                <a:ea typeface="Georgia" pitchFamily="34" charset="-122"/>
                <a:cs typeface="Georgia" pitchFamily="34" charset="-120"/>
              </a:rPr>
              <a:t>Sapo của bài</a:t>
            </a:r>
            <a:endParaRPr lang="en-US" sz="2600" dirty="0"/>
          </a:p>
        </p:txBody>
      </p:sp>
      <p:sp>
        <p:nvSpPr>
          <p:cNvPr id="16" name="Text 14"/>
          <p:cNvSpPr/>
          <p:nvPr/>
        </p:nvSpPr>
        <p:spPr>
          <a:xfrm>
            <a:off x="8412480" y="3566160"/>
            <a:ext cx="315468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Sapo là bản mẫu khi tính ROUGE. ViT5 không được đọc sapo.</a:t>
            </a:r>
            <a:endParaRPr lang="en-US" sz="16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05   HAI CÁCH</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Một bài trong tập test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Lấy câu sẵn, hoặc viết câu mới</a:t>
            </a:r>
            <a:endParaRPr lang="en-US" sz="2800" dirty="0"/>
          </a:p>
        </p:txBody>
      </p:sp>
      <p:sp>
        <p:nvSpPr>
          <p:cNvPr id="5" name="Shape 3"/>
          <p:cNvSpPr/>
          <p:nvPr/>
        </p:nvSpPr>
        <p:spPr>
          <a:xfrm>
            <a:off x="502920" y="1325880"/>
            <a:ext cx="5486400" cy="2331720"/>
          </a:xfrm>
          <a:prstGeom prst="rect">
            <a:avLst/>
          </a:prstGeom>
          <a:solidFill>
            <a:srgbClr val="F7F3E8"/>
          </a:solidFill>
          <a:ln w="9525">
            <a:solidFill>
              <a:srgbClr val="C8C0AE"/>
            </a:solidFill>
            <a:prstDash val="solid"/>
          </a:ln>
        </p:spPr>
      </p:sp>
      <p:sp>
        <p:nvSpPr>
          <p:cNvPr id="6" name="Shape 4"/>
          <p:cNvSpPr/>
          <p:nvPr/>
        </p:nvSpPr>
        <p:spPr>
          <a:xfrm>
            <a:off x="6217920" y="1325880"/>
            <a:ext cx="5486400" cy="2331720"/>
          </a:xfrm>
          <a:prstGeom prst="rect">
            <a:avLst/>
          </a:prstGeom>
          <a:solidFill>
            <a:srgbClr val="F2E5D0"/>
          </a:solidFill>
          <a:ln w="9525">
            <a:solidFill>
              <a:srgbClr val="C8C0AE"/>
            </a:solidFill>
            <a:prstDash val="solid"/>
          </a:ln>
        </p:spPr>
      </p:sp>
      <p:sp>
        <p:nvSpPr>
          <p:cNvPr id="7" name="Text 5"/>
          <p:cNvSpPr/>
          <p:nvPr/>
        </p:nvSpPr>
        <p:spPr>
          <a:xfrm>
            <a:off x="731520" y="1463040"/>
            <a:ext cx="5029200" cy="32004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Rút trích</a:t>
            </a:r>
            <a:endParaRPr lang="en-US" sz="1600" dirty="0"/>
          </a:p>
        </p:txBody>
      </p:sp>
      <p:sp>
        <p:nvSpPr>
          <p:cNvPr id="8" name="Text 6"/>
          <p:cNvSpPr/>
          <p:nvPr/>
        </p:nvSpPr>
        <p:spPr>
          <a:xfrm>
            <a:off x="731520" y="1920240"/>
            <a:ext cx="5029200" cy="14173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Giữ nguyên câu trong bài. Ít bịa chữ. Có thể cụt hoặc lệch sapo.</a:t>
            </a:r>
            <a:endParaRPr lang="en-US" sz="1800" dirty="0"/>
          </a:p>
        </p:txBody>
      </p:sp>
      <p:sp>
        <p:nvSpPr>
          <p:cNvPr id="9" name="Text 7"/>
          <p:cNvSpPr/>
          <p:nvPr/>
        </p:nvSpPr>
        <p:spPr>
          <a:xfrm>
            <a:off x="6446520" y="1463040"/>
            <a:ext cx="5029200" cy="32004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Tóm lược</a:t>
            </a:r>
            <a:endParaRPr lang="en-US" sz="1600" dirty="0"/>
          </a:p>
        </p:txBody>
      </p:sp>
      <p:sp>
        <p:nvSpPr>
          <p:cNvPr id="10" name="Text 8"/>
          <p:cNvSpPr/>
          <p:nvPr/>
        </p:nvSpPr>
        <p:spPr>
          <a:xfrm>
            <a:off x="6446520" y="1920240"/>
            <a:ext cx="5029200" cy="14173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Viết câu mới. Đọc có thể mượt hơn. Có thể sai tên, sai số, đảo người làm việc.</a:t>
            </a:r>
            <a:endParaRPr lang="en-US" sz="1800" dirty="0"/>
          </a:p>
        </p:txBody>
      </p:sp>
      <p:sp>
        <p:nvSpPr>
          <p:cNvPr id="11" name="Shape 9"/>
          <p:cNvSpPr/>
          <p:nvPr/>
        </p:nvSpPr>
        <p:spPr>
          <a:xfrm>
            <a:off x="502920" y="3840480"/>
            <a:ext cx="11201400" cy="2240280"/>
          </a:xfrm>
          <a:prstGeom prst="rect">
            <a:avLst/>
          </a:prstGeom>
          <a:solidFill>
            <a:srgbClr val="F7F3E8"/>
          </a:solidFill>
          <a:ln w="9525">
            <a:solidFill>
              <a:srgbClr val="C8C0AE"/>
            </a:solidFill>
            <a:prstDash val="solid"/>
          </a:ln>
        </p:spPr>
      </p:sp>
      <p:sp>
        <p:nvSpPr>
          <p:cNvPr id="12" name="Text 10"/>
          <p:cNvSpPr/>
          <p:nvPr/>
        </p:nvSpPr>
        <p:spPr>
          <a:xfrm>
            <a:off x="731520" y="4005072"/>
            <a:ext cx="10698480" cy="292608"/>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Bài 000011 trong tập test</a:t>
            </a:r>
            <a:endParaRPr lang="en-US" sz="1400" dirty="0"/>
          </a:p>
        </p:txBody>
      </p:sp>
      <p:sp>
        <p:nvSpPr>
          <p:cNvPr id="13" name="Text 11"/>
          <p:cNvSpPr/>
          <p:nvPr/>
        </p:nvSpPr>
        <p:spPr>
          <a:xfrm>
            <a:off x="731520" y="4434840"/>
            <a:ext cx="10698480" cy="132588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Bài 000011 kể việc thuê xe chở máy ủi. Rút trích giữ nguyên câu ấy. ViT5 đổi thành trộm xe bồn.</a:t>
            </a:r>
            <a:endParaRPr lang="en-US" sz="18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06   CÔNG TRÌNH</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Và dữ liệu</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Dùng Vietnews và checkpoint ViT5 đã công bố</a:t>
            </a:r>
            <a:endParaRPr lang="en-US" sz="2800" dirty="0"/>
          </a:p>
        </p:txBody>
      </p:sp>
      <p:sp>
        <p:nvSpPr>
          <p:cNvPr id="5" name="Shape 3"/>
          <p:cNvSpPr/>
          <p:nvPr/>
        </p:nvSpPr>
        <p:spPr>
          <a:xfrm>
            <a:off x="502920" y="1371600"/>
            <a:ext cx="11155680" cy="1051560"/>
          </a:xfrm>
          <a:prstGeom prst="rect">
            <a:avLst/>
          </a:prstGeom>
          <a:solidFill>
            <a:srgbClr val="F7F3E8"/>
          </a:solidFill>
          <a:ln w="9525">
            <a:solidFill>
              <a:srgbClr val="C8C0AE"/>
            </a:solidFill>
            <a:prstDash val="solid"/>
          </a:ln>
        </p:spPr>
      </p:sp>
      <p:sp>
        <p:nvSpPr>
          <p:cNvPr id="6" name="Text 4"/>
          <p:cNvSpPr/>
          <p:nvPr/>
        </p:nvSpPr>
        <p:spPr>
          <a:xfrm>
            <a:off x="731520" y="166420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Dữ liệu</a:t>
            </a:r>
            <a:endParaRPr lang="en-US" sz="1800" dirty="0"/>
          </a:p>
        </p:txBody>
      </p:sp>
      <p:sp>
        <p:nvSpPr>
          <p:cNvPr id="7" name="Text 5"/>
          <p:cNvSpPr/>
          <p:nvPr/>
        </p:nvSpPr>
        <p:spPr>
          <a:xfrm>
            <a:off x="3108960" y="166420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github.com/ThanhChinhBK/vietnews</a:t>
            </a:r>
            <a:endParaRPr lang="en-US" sz="1800" dirty="0"/>
          </a:p>
        </p:txBody>
      </p:sp>
      <p:sp>
        <p:nvSpPr>
          <p:cNvPr id="8" name="Shape 6"/>
          <p:cNvSpPr/>
          <p:nvPr/>
        </p:nvSpPr>
        <p:spPr>
          <a:xfrm>
            <a:off x="502920" y="2560320"/>
            <a:ext cx="11155680" cy="1051560"/>
          </a:xfrm>
          <a:prstGeom prst="rect">
            <a:avLst/>
          </a:prstGeom>
          <a:solidFill>
            <a:srgbClr val="F7F3E8"/>
          </a:solidFill>
          <a:ln w="9525">
            <a:solidFill>
              <a:srgbClr val="C8C0AE"/>
            </a:solidFill>
            <a:prstDash val="solid"/>
          </a:ln>
        </p:spPr>
      </p:sp>
      <p:sp>
        <p:nvSpPr>
          <p:cNvPr id="9" name="Text 7"/>
          <p:cNvSpPr/>
          <p:nvPr/>
        </p:nvSpPr>
        <p:spPr>
          <a:xfrm>
            <a:off x="731520" y="285292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Model</a:t>
            </a:r>
            <a:endParaRPr lang="en-US" sz="1800" dirty="0"/>
          </a:p>
        </p:txBody>
      </p:sp>
      <p:sp>
        <p:nvSpPr>
          <p:cNvPr id="10" name="Text 8"/>
          <p:cNvSpPr/>
          <p:nvPr/>
        </p:nvSpPr>
        <p:spPr>
          <a:xfrm>
            <a:off x="3108960" y="285292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VietAI/vit5-base-vietnews-summarization, bài NAACL 2022</a:t>
            </a:r>
            <a:endParaRPr lang="en-US" sz="1800" dirty="0"/>
          </a:p>
        </p:txBody>
      </p:sp>
      <p:sp>
        <p:nvSpPr>
          <p:cNvPr id="11" name="Shape 9"/>
          <p:cNvSpPr/>
          <p:nvPr/>
        </p:nvSpPr>
        <p:spPr>
          <a:xfrm>
            <a:off x="502920" y="3749040"/>
            <a:ext cx="11155680" cy="1051560"/>
          </a:xfrm>
          <a:prstGeom prst="rect">
            <a:avLst/>
          </a:prstGeom>
          <a:solidFill>
            <a:srgbClr val="F7F3E8"/>
          </a:solidFill>
          <a:ln w="9525">
            <a:solidFill>
              <a:srgbClr val="C8C0AE"/>
            </a:solidFill>
            <a:prstDash val="solid"/>
          </a:ln>
        </p:spPr>
      </p:sp>
      <p:sp>
        <p:nvSpPr>
          <p:cNvPr id="12" name="Text 10"/>
          <p:cNvSpPr/>
          <p:nvPr/>
        </p:nvSpPr>
        <p:spPr>
          <a:xfrm>
            <a:off x="731520" y="404164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Phần dùng</a:t>
            </a:r>
            <a:endParaRPr lang="en-US" sz="1800" dirty="0"/>
          </a:p>
        </p:txBody>
      </p:sp>
      <p:sp>
        <p:nvSpPr>
          <p:cNvPr id="13" name="Text 11"/>
          <p:cNvSpPr/>
          <p:nvPr/>
        </p:nvSpPr>
        <p:spPr>
          <a:xfrm>
            <a:off x="3108960" y="404164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Tập test, các file đã tách từ bằng dấu gạch dưới</a:t>
            </a:r>
            <a:endParaRPr lang="en-US" sz="1800" dirty="0"/>
          </a:p>
        </p:txBody>
      </p:sp>
      <p:sp>
        <p:nvSpPr>
          <p:cNvPr id="14" name="Shape 12"/>
          <p:cNvSpPr/>
          <p:nvPr/>
        </p:nvSpPr>
        <p:spPr>
          <a:xfrm>
            <a:off x="502920" y="4937760"/>
            <a:ext cx="11155680" cy="1051560"/>
          </a:xfrm>
          <a:prstGeom prst="rect">
            <a:avLst/>
          </a:prstGeom>
          <a:solidFill>
            <a:srgbClr val="F7F3E8"/>
          </a:solidFill>
          <a:ln w="9525">
            <a:solidFill>
              <a:srgbClr val="C8C0AE"/>
            </a:solidFill>
            <a:prstDash val="solid"/>
          </a:ln>
        </p:spPr>
      </p:sp>
      <p:sp>
        <p:nvSpPr>
          <p:cNvPr id="15" name="Text 13"/>
          <p:cNvSpPr/>
          <p:nvPr/>
        </p:nvSpPr>
        <p:spPr>
          <a:xfrm>
            <a:off x="731520" y="523036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Số bài</a:t>
            </a:r>
            <a:endParaRPr lang="en-US" sz="1800" dirty="0"/>
          </a:p>
        </p:txBody>
      </p:sp>
      <p:sp>
        <p:nvSpPr>
          <p:cNvPr id="16" name="Text 14"/>
          <p:cNvSpPr/>
          <p:nvPr/>
        </p:nvSpPr>
        <p:spPr>
          <a:xfrm>
            <a:off x="3108960" y="523036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Làm thử 100 bài đầu. Số báo cáo là 500 bài đầu, lấy theo tên file.</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07   CÁCH CHẠY</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Bốn bước</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Từ file bài báo đến điểm ROUGE</a:t>
            </a:r>
            <a:endParaRPr lang="en-US" sz="2800" dirty="0"/>
          </a:p>
        </p:txBody>
      </p:sp>
      <p:sp>
        <p:nvSpPr>
          <p:cNvPr id="5" name="Shape 3"/>
          <p:cNvSpPr/>
          <p:nvPr/>
        </p:nvSpPr>
        <p:spPr>
          <a:xfrm>
            <a:off x="502920" y="1463040"/>
            <a:ext cx="2743200" cy="4526280"/>
          </a:xfrm>
          <a:prstGeom prst="rect">
            <a:avLst/>
          </a:prstGeom>
          <a:solidFill>
            <a:srgbClr val="F7F3E8"/>
          </a:solidFill>
          <a:ln w="9525">
            <a:solidFill>
              <a:srgbClr val="C8C0AE"/>
            </a:solidFill>
            <a:prstDash val="solid"/>
          </a:ln>
        </p:spPr>
      </p:sp>
      <p:sp>
        <p:nvSpPr>
          <p:cNvPr id="6" name="Text 4"/>
          <p:cNvSpPr/>
          <p:nvPr/>
        </p:nvSpPr>
        <p:spPr>
          <a:xfrm>
            <a:off x="68580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1</a:t>
            </a:r>
            <a:endParaRPr lang="en-US" sz="3200" dirty="0"/>
          </a:p>
        </p:txBody>
      </p:sp>
      <p:sp>
        <p:nvSpPr>
          <p:cNvPr id="7" name="Text 5"/>
          <p:cNvSpPr/>
          <p:nvPr/>
        </p:nvSpPr>
        <p:spPr>
          <a:xfrm>
            <a:off x="68580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Đọc file</a:t>
            </a:r>
            <a:endParaRPr lang="en-US" sz="2000" dirty="0"/>
          </a:p>
        </p:txBody>
      </p:sp>
      <p:sp>
        <p:nvSpPr>
          <p:cNvPr id="8" name="Text 6"/>
          <p:cNvSpPr/>
          <p:nvPr/>
        </p:nvSpPr>
        <p:spPr>
          <a:xfrm>
            <a:off x="68580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Lấy tiêu đề, sapo và thân bài.</a:t>
            </a:r>
            <a:endParaRPr lang="en-US" sz="1600" dirty="0"/>
          </a:p>
        </p:txBody>
      </p:sp>
      <p:sp>
        <p:nvSpPr>
          <p:cNvPr id="9" name="Shape 7"/>
          <p:cNvSpPr/>
          <p:nvPr/>
        </p:nvSpPr>
        <p:spPr>
          <a:xfrm>
            <a:off x="3383280" y="1463040"/>
            <a:ext cx="2743200" cy="4526280"/>
          </a:xfrm>
          <a:prstGeom prst="rect">
            <a:avLst/>
          </a:prstGeom>
          <a:solidFill>
            <a:srgbClr val="F7F3E8"/>
          </a:solidFill>
          <a:ln w="9525">
            <a:solidFill>
              <a:srgbClr val="C8C0AE"/>
            </a:solidFill>
            <a:prstDash val="solid"/>
          </a:ln>
        </p:spPr>
      </p:sp>
      <p:sp>
        <p:nvSpPr>
          <p:cNvPr id="10" name="Text 8"/>
          <p:cNvSpPr/>
          <p:nvPr/>
        </p:nvSpPr>
        <p:spPr>
          <a:xfrm>
            <a:off x="356616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2</a:t>
            </a:r>
            <a:endParaRPr lang="en-US" sz="3200" dirty="0"/>
          </a:p>
        </p:txBody>
      </p:sp>
      <p:sp>
        <p:nvSpPr>
          <p:cNvPr id="11" name="Text 9"/>
          <p:cNvSpPr/>
          <p:nvPr/>
        </p:nvSpPr>
        <p:spPr>
          <a:xfrm>
            <a:off x="356616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Tách câu</a:t>
            </a:r>
            <a:endParaRPr lang="en-US" sz="2000" dirty="0"/>
          </a:p>
        </p:txBody>
      </p:sp>
      <p:sp>
        <p:nvSpPr>
          <p:cNvPr id="12" name="Text 10"/>
          <p:cNvSpPr/>
          <p:nvPr/>
        </p:nvSpPr>
        <p:spPr>
          <a:xfrm>
            <a:off x="356616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Lead-3 và TextRank chạy trên máy.</a:t>
            </a:r>
            <a:endParaRPr lang="en-US" sz="1600" dirty="0"/>
          </a:p>
        </p:txBody>
      </p:sp>
      <p:sp>
        <p:nvSpPr>
          <p:cNvPr id="13" name="Shape 11"/>
          <p:cNvSpPr/>
          <p:nvPr/>
        </p:nvSpPr>
        <p:spPr>
          <a:xfrm>
            <a:off x="6263640" y="1463040"/>
            <a:ext cx="2743200" cy="4526280"/>
          </a:xfrm>
          <a:prstGeom prst="rect">
            <a:avLst/>
          </a:prstGeom>
          <a:solidFill>
            <a:srgbClr val="F7F3E8"/>
          </a:solidFill>
          <a:ln w="9525">
            <a:solidFill>
              <a:srgbClr val="C8C0AE"/>
            </a:solidFill>
            <a:prstDash val="solid"/>
          </a:ln>
        </p:spPr>
      </p:sp>
      <p:sp>
        <p:nvSpPr>
          <p:cNvPr id="14" name="Text 12"/>
          <p:cNvSpPr/>
          <p:nvPr/>
        </p:nvSpPr>
        <p:spPr>
          <a:xfrm>
            <a:off x="644652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3</a:t>
            </a:r>
            <a:endParaRPr lang="en-US" sz="3200" dirty="0"/>
          </a:p>
        </p:txBody>
      </p:sp>
      <p:sp>
        <p:nvSpPr>
          <p:cNvPr id="15" name="Text 13"/>
          <p:cNvSpPr/>
          <p:nvPr/>
        </p:nvSpPr>
        <p:spPr>
          <a:xfrm>
            <a:off x="644652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ViT5</a:t>
            </a:r>
            <a:endParaRPr lang="en-US" sz="2000" dirty="0"/>
          </a:p>
        </p:txBody>
      </p:sp>
      <p:sp>
        <p:nvSpPr>
          <p:cNvPr id="16" name="Text 14"/>
          <p:cNvSpPr/>
          <p:nvPr/>
        </p:nvSpPr>
        <p:spPr>
          <a:xfrm>
            <a:off x="644652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Dùng câu đã viết sẵn và lưu lại.</a:t>
            </a:r>
            <a:endParaRPr lang="en-US" sz="1600" dirty="0"/>
          </a:p>
        </p:txBody>
      </p:sp>
      <p:sp>
        <p:nvSpPr>
          <p:cNvPr id="17" name="Shape 15"/>
          <p:cNvSpPr/>
          <p:nvPr/>
        </p:nvSpPr>
        <p:spPr>
          <a:xfrm>
            <a:off x="9144000" y="1463040"/>
            <a:ext cx="2743200" cy="4526280"/>
          </a:xfrm>
          <a:prstGeom prst="rect">
            <a:avLst/>
          </a:prstGeom>
          <a:solidFill>
            <a:srgbClr val="F7F3E8"/>
          </a:solidFill>
          <a:ln w="9525">
            <a:solidFill>
              <a:srgbClr val="C8C0AE"/>
            </a:solidFill>
            <a:prstDash val="solid"/>
          </a:ln>
        </p:spPr>
      </p:sp>
      <p:sp>
        <p:nvSpPr>
          <p:cNvPr id="18" name="Text 16"/>
          <p:cNvSpPr/>
          <p:nvPr/>
        </p:nvSpPr>
        <p:spPr>
          <a:xfrm>
            <a:off x="932688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4</a:t>
            </a:r>
            <a:endParaRPr lang="en-US" sz="3200" dirty="0"/>
          </a:p>
        </p:txBody>
      </p:sp>
      <p:sp>
        <p:nvSpPr>
          <p:cNvPr id="19" name="Text 17"/>
          <p:cNvSpPr/>
          <p:nvPr/>
        </p:nvSpPr>
        <p:spPr>
          <a:xfrm>
            <a:off x="932688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ROUGE</a:t>
            </a:r>
            <a:endParaRPr lang="en-US" sz="2000" dirty="0"/>
          </a:p>
        </p:txBody>
      </p:sp>
      <p:sp>
        <p:nvSpPr>
          <p:cNvPr id="20" name="Text 18"/>
          <p:cNvSpPr/>
          <p:nvPr/>
        </p:nvSpPr>
        <p:spPr>
          <a:xfrm>
            <a:off x="932688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So bản tóm tắt với sapo bằng ROUGE-1, 2 và L.</a:t>
            </a:r>
            <a:endParaRPr lang="en-US" sz="1600" dirty="0"/>
          </a:p>
        </p:txBody>
      </p:sp>
      <p:sp>
        <p:nvSpPr>
          <p:cNvPr id="21" name="Text 1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22" name="Text 2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08   TIỀN XỬ LÝ</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Tiếng Việt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Nhóm đọc file đã tách từ, rồi chấm trên đó</a:t>
            </a:r>
            <a:endParaRPr lang="en-US" sz="2800" dirty="0"/>
          </a:p>
        </p:txBody>
      </p:sp>
      <p:sp>
        <p:nvSpPr>
          <p:cNvPr id="5" name="Shape 3"/>
          <p:cNvSpPr/>
          <p:nvPr/>
        </p:nvSpPr>
        <p:spPr>
          <a:xfrm>
            <a:off x="502920" y="1417320"/>
            <a:ext cx="11155680" cy="1417320"/>
          </a:xfrm>
          <a:prstGeom prst="rect">
            <a:avLst/>
          </a:prstGeom>
          <a:solidFill>
            <a:srgbClr val="F7F3E8"/>
          </a:solidFill>
          <a:ln w="9525">
            <a:solidFill>
              <a:srgbClr val="C8C0AE"/>
            </a:solidFill>
            <a:prstDash val="solid"/>
          </a:ln>
        </p:spPr>
      </p:sp>
      <p:sp>
        <p:nvSpPr>
          <p:cNvPr id="6" name="Text 4"/>
          <p:cNvSpPr/>
          <p:nvPr/>
        </p:nvSpPr>
        <p:spPr>
          <a:xfrm>
            <a:off x="731520" y="1581912"/>
            <a:ext cx="2834640" cy="77724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Dấu gạch dưới</a:t>
            </a:r>
            <a:endParaRPr lang="en-US" sz="1800" dirty="0"/>
          </a:p>
        </p:txBody>
      </p:sp>
      <p:sp>
        <p:nvSpPr>
          <p:cNvPr id="7" name="Text 5"/>
          <p:cNvSpPr/>
          <p:nvPr/>
        </p:nvSpPr>
        <p:spPr>
          <a:xfrm>
            <a:off x="3657600" y="1581912"/>
            <a:ext cx="7680960" cy="7772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học_sinh là một từ có sẵn trong file Vietnews.</a:t>
            </a:r>
            <a:endParaRPr lang="en-US" sz="1800" dirty="0"/>
          </a:p>
        </p:txBody>
      </p:sp>
      <p:sp>
        <p:nvSpPr>
          <p:cNvPr id="8" name="Shape 6"/>
          <p:cNvSpPr/>
          <p:nvPr/>
        </p:nvSpPr>
        <p:spPr>
          <a:xfrm>
            <a:off x="502920" y="3017520"/>
            <a:ext cx="11155680" cy="1417320"/>
          </a:xfrm>
          <a:prstGeom prst="rect">
            <a:avLst/>
          </a:prstGeom>
          <a:solidFill>
            <a:srgbClr val="F7F3E8"/>
          </a:solidFill>
          <a:ln w="9525">
            <a:solidFill>
              <a:srgbClr val="C8C0AE"/>
            </a:solidFill>
            <a:prstDash val="solid"/>
          </a:ln>
        </p:spPr>
      </p:sp>
      <p:sp>
        <p:nvSpPr>
          <p:cNvPr id="9" name="Text 7"/>
          <p:cNvSpPr/>
          <p:nvPr/>
        </p:nvSpPr>
        <p:spPr>
          <a:xfrm>
            <a:off x="731520" y="3182112"/>
            <a:ext cx="2834640" cy="77724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Câu</a:t>
            </a:r>
            <a:endParaRPr lang="en-US" sz="1800" dirty="0"/>
          </a:p>
        </p:txBody>
      </p:sp>
      <p:sp>
        <p:nvSpPr>
          <p:cNvPr id="10" name="Text 8"/>
          <p:cNvSpPr/>
          <p:nvPr/>
        </p:nvSpPr>
        <p:spPr>
          <a:xfrm>
            <a:off x="3657600" y="3182112"/>
            <a:ext cx="7680960" cy="7772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Mỗi dòng thường là một câu. Dòng chưa hết câu thì nối đến dấu chấm.</a:t>
            </a:r>
            <a:endParaRPr lang="en-US" sz="1800" dirty="0"/>
          </a:p>
        </p:txBody>
      </p:sp>
      <p:sp>
        <p:nvSpPr>
          <p:cNvPr id="11" name="Shape 9"/>
          <p:cNvSpPr/>
          <p:nvPr/>
        </p:nvSpPr>
        <p:spPr>
          <a:xfrm>
            <a:off x="502920" y="4617720"/>
            <a:ext cx="11155680" cy="1417320"/>
          </a:xfrm>
          <a:prstGeom prst="rect">
            <a:avLst/>
          </a:prstGeom>
          <a:solidFill>
            <a:srgbClr val="F7F3E8"/>
          </a:solidFill>
          <a:ln w="9525">
            <a:solidFill>
              <a:srgbClr val="C8C0AE"/>
            </a:solidFill>
            <a:prstDash val="solid"/>
          </a:ln>
        </p:spPr>
      </p:sp>
      <p:sp>
        <p:nvSpPr>
          <p:cNvPr id="12" name="Text 10"/>
          <p:cNvSpPr/>
          <p:nvPr/>
        </p:nvSpPr>
        <p:spPr>
          <a:xfrm>
            <a:off x="731520" y="4782312"/>
            <a:ext cx="2834640" cy="77724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Lúc chấm</a:t>
            </a:r>
            <a:endParaRPr lang="en-US" sz="1800" dirty="0"/>
          </a:p>
        </p:txBody>
      </p:sp>
      <p:sp>
        <p:nvSpPr>
          <p:cNvPr id="13" name="Text 11"/>
          <p:cNvSpPr/>
          <p:nvPr/>
        </p:nvSpPr>
        <p:spPr>
          <a:xfrm>
            <a:off x="3657600" y="4782312"/>
            <a:ext cx="7680960" cy="7772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Đổi gạch dưới thành khoảng trắng ở bản tóm tắt và sapo, rồi tách theo khoảng trắng.</a:t>
            </a:r>
            <a:endParaRPr lang="en-US" sz="18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09   LEAD-3</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Baseline</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Lấy ba câu đầu thân bài</a:t>
            </a:r>
            <a:endParaRPr lang="en-US" sz="2800" dirty="0"/>
          </a:p>
        </p:txBody>
      </p:sp>
      <p:sp>
        <p:nvSpPr>
          <p:cNvPr id="5" name="Shape 3"/>
          <p:cNvSpPr/>
          <p:nvPr/>
        </p:nvSpPr>
        <p:spPr>
          <a:xfrm>
            <a:off x="502920" y="1371600"/>
            <a:ext cx="6766560" cy="4663440"/>
          </a:xfrm>
          <a:prstGeom prst="rect">
            <a:avLst/>
          </a:prstGeom>
          <a:solidFill>
            <a:srgbClr val="F7F3E8"/>
          </a:solidFill>
          <a:ln w="9525">
            <a:solidFill>
              <a:srgbClr val="C8C0AE"/>
            </a:solidFill>
            <a:prstDash val="solid"/>
          </a:ln>
        </p:spPr>
      </p:sp>
      <p:sp>
        <p:nvSpPr>
          <p:cNvPr id="6" name="Text 4"/>
          <p:cNvSpPr/>
          <p:nvPr/>
        </p:nvSpPr>
        <p:spPr>
          <a:xfrm>
            <a:off x="777240" y="1600200"/>
            <a:ext cx="6217920" cy="32004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Cách làm</a:t>
            </a:r>
            <a:endParaRPr lang="en-US" sz="1600" dirty="0"/>
          </a:p>
        </p:txBody>
      </p:sp>
      <p:sp>
        <p:nvSpPr>
          <p:cNvPr id="7" name="Text 5"/>
          <p:cNvSpPr/>
          <p:nvPr/>
        </p:nvSpPr>
        <p:spPr>
          <a:xfrm>
            <a:off x="777240" y="2103120"/>
            <a:ext cx="6217920" cy="3291840"/>
          </a:xfrm>
          <a:prstGeom prst="rect">
            <a:avLst/>
          </a:prstGeom>
          <a:noFill/>
          <a:ln/>
        </p:spPr>
        <p:txBody>
          <a:bodyPr wrap="square" lIns="0" tIns="0" rIns="0" bIns="0" rtlCol="0" anchor="ctr"/>
          <a:lstStyle/>
          <a:p>
            <a:pPr indent="0" marL="0">
              <a:buNone/>
            </a:pPr>
            <a:r>
              <a:rPr lang="en-US" sz="2200" dirty="0">
                <a:solidFill>
                  <a:srgbClr val="2B2B2B"/>
                </a:solidFill>
                <a:latin typeface="Calibri" pitchFamily="34" charset="0"/>
                <a:ea typeface="Calibri" pitchFamily="34" charset="-122"/>
                <a:cs typeface="Calibri" pitchFamily="34" charset="-120"/>
              </a:rPr>
              <a:t>Lấy tối đa ba câu đứng đầu bài.</a:t>
            </a:r>
            <a:endParaRPr lang="en-US" sz="2200" dirty="0"/>
          </a:p>
          <a:p>
            <a:pPr indent="0" marL="0">
              <a:buNone/>
            </a:pPr>
            <a:endParaRPr lang="en-US" sz="2200" dirty="0"/>
          </a:p>
          <a:p>
            <a:pPr indent="0" marL="0">
              <a:buNone/>
            </a:pPr>
            <a:r>
              <a:rPr lang="en-US" sz="2200" dirty="0">
                <a:solidFill>
                  <a:srgbClr val="2B2B2B"/>
                </a:solidFill>
                <a:latin typeface="Calibri" pitchFamily="34" charset="0"/>
                <a:ea typeface="Calibri" pitchFamily="34" charset="-122"/>
                <a:cs typeface="Calibri" pitchFamily="34" charset="-120"/>
              </a:rPr>
              <a:t>Bài chỉ có hai câu thì giữ hai câu.</a:t>
            </a:r>
            <a:endParaRPr lang="en-US" sz="2200" dirty="0"/>
          </a:p>
          <a:p>
            <a:pPr indent="0" marL="0">
              <a:buNone/>
            </a:pPr>
            <a:endParaRPr lang="en-US" sz="2200" dirty="0"/>
          </a:p>
          <a:p>
            <a:pPr indent="0" marL="0">
              <a:buNone/>
            </a:pPr>
            <a:r>
              <a:rPr lang="en-US" sz="2200" dirty="0">
                <a:solidFill>
                  <a:srgbClr val="2B2B2B"/>
                </a:solidFill>
                <a:latin typeface="Calibri" pitchFamily="34" charset="0"/>
                <a:ea typeface="Calibri" pitchFamily="34" charset="-122"/>
                <a:cs typeface="Calibri" pitchFamily="34" charset="-120"/>
              </a:rPr>
              <a:t>Không sắp xếp lại, không chấm câu nào quan trọng hơn.</a:t>
            </a:r>
            <a:endParaRPr lang="en-US" sz="2200" dirty="0"/>
          </a:p>
        </p:txBody>
      </p:sp>
      <p:sp>
        <p:nvSpPr>
          <p:cNvPr id="8" name="Shape 6"/>
          <p:cNvSpPr/>
          <p:nvPr/>
        </p:nvSpPr>
        <p:spPr>
          <a:xfrm>
            <a:off x="7498080" y="1371600"/>
            <a:ext cx="4160520" cy="4663440"/>
          </a:xfrm>
          <a:prstGeom prst="rect">
            <a:avLst/>
          </a:prstGeom>
          <a:solidFill>
            <a:srgbClr val="F2E5D0"/>
          </a:solidFill>
          <a:ln w="9525">
            <a:solidFill>
              <a:srgbClr val="C8C0AE"/>
            </a:solidFill>
            <a:prstDash val="solid"/>
          </a:ln>
        </p:spPr>
      </p:sp>
      <p:sp>
        <p:nvSpPr>
          <p:cNvPr id="9" name="Text 7"/>
          <p:cNvSpPr/>
          <p:nvPr/>
        </p:nvSpPr>
        <p:spPr>
          <a:xfrm>
            <a:off x="7726680" y="1600200"/>
            <a:ext cx="374904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Vì sao cần</a:t>
            </a:r>
            <a:endParaRPr lang="en-US" sz="1600" dirty="0"/>
          </a:p>
        </p:txBody>
      </p:sp>
      <p:sp>
        <p:nvSpPr>
          <p:cNvPr id="10" name="Text 8"/>
          <p:cNvSpPr/>
          <p:nvPr/>
        </p:nvSpPr>
        <p:spPr>
          <a:xfrm>
            <a:off x="7726680" y="2194560"/>
            <a:ext cx="3749040" cy="32004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Tin thường nêu việc chính ngay câu đầu.</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Lấy ba câu đầu giúp thấy TextRank và ViT5 có hơn cách đơn giản này hay không.</a:t>
            </a:r>
            <a:endParaRPr lang="en-US" sz="1800" dirty="0"/>
          </a:p>
        </p:txBody>
      </p:sp>
      <p:sp>
        <p:nvSpPr>
          <p:cNvPr id="11" name="Text 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2" name="Text 1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10   TEXTRANK</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Chọn câu trong một bài</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Chọn ba câu giống các câu khác nhất</a:t>
            </a:r>
            <a:endParaRPr lang="en-US" sz="2800" dirty="0"/>
          </a:p>
        </p:txBody>
      </p:sp>
      <p:sp>
        <p:nvSpPr>
          <p:cNvPr id="5" name="Shape 3"/>
          <p:cNvSpPr/>
          <p:nvPr/>
        </p:nvSpPr>
        <p:spPr>
          <a:xfrm>
            <a:off x="502920" y="1325880"/>
            <a:ext cx="11155680" cy="1115568"/>
          </a:xfrm>
          <a:prstGeom prst="rect">
            <a:avLst/>
          </a:prstGeom>
          <a:solidFill>
            <a:srgbClr val="F7F3E8"/>
          </a:solidFill>
          <a:ln w="9525">
            <a:solidFill>
              <a:srgbClr val="C8C0AE"/>
            </a:solidFill>
            <a:prstDash val="solid"/>
          </a:ln>
        </p:spPr>
      </p:sp>
      <p:sp>
        <p:nvSpPr>
          <p:cNvPr id="6" name="Text 4"/>
          <p:cNvSpPr/>
          <p:nvPr/>
        </p:nvSpPr>
        <p:spPr>
          <a:xfrm>
            <a:off x="731520" y="161848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554480" y="161848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TF-IDF</a:t>
            </a:r>
            <a:endParaRPr lang="en-US" sz="2000" dirty="0"/>
          </a:p>
        </p:txBody>
      </p:sp>
      <p:sp>
        <p:nvSpPr>
          <p:cNvPr id="8" name="Text 6"/>
          <p:cNvSpPr/>
          <p:nvPr/>
        </p:nvSpPr>
        <p:spPr>
          <a:xfrm>
            <a:off x="4297680" y="163677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Mỗi câu thành một vector, chỉ trong bài đó.</a:t>
            </a:r>
            <a:endParaRPr lang="en-US" sz="1800" dirty="0"/>
          </a:p>
        </p:txBody>
      </p:sp>
      <p:sp>
        <p:nvSpPr>
          <p:cNvPr id="9" name="Shape 7"/>
          <p:cNvSpPr/>
          <p:nvPr/>
        </p:nvSpPr>
        <p:spPr>
          <a:xfrm>
            <a:off x="502920" y="2560320"/>
            <a:ext cx="11155680" cy="1115568"/>
          </a:xfrm>
          <a:prstGeom prst="rect">
            <a:avLst/>
          </a:prstGeom>
          <a:solidFill>
            <a:srgbClr val="F7F3E8"/>
          </a:solidFill>
          <a:ln w="9525">
            <a:solidFill>
              <a:srgbClr val="C8C0AE"/>
            </a:solidFill>
            <a:prstDash val="solid"/>
          </a:ln>
        </p:spPr>
      </p:sp>
      <p:sp>
        <p:nvSpPr>
          <p:cNvPr id="10" name="Text 8"/>
          <p:cNvSpPr/>
          <p:nvPr/>
        </p:nvSpPr>
        <p:spPr>
          <a:xfrm>
            <a:off x="731520" y="285292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554480" y="285292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Cosine</a:t>
            </a:r>
            <a:endParaRPr lang="en-US" sz="2000" dirty="0"/>
          </a:p>
        </p:txBody>
      </p:sp>
      <p:sp>
        <p:nvSpPr>
          <p:cNvPr id="12" name="Text 10"/>
          <p:cNvSpPr/>
          <p:nvPr/>
        </p:nvSpPr>
        <p:spPr>
          <a:xfrm>
            <a:off x="4297680" y="287121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Đo hai câu giống nhau đến đâu.</a:t>
            </a:r>
            <a:endParaRPr lang="en-US" sz="1800" dirty="0"/>
          </a:p>
        </p:txBody>
      </p:sp>
      <p:sp>
        <p:nvSpPr>
          <p:cNvPr id="13" name="Shape 11"/>
          <p:cNvSpPr/>
          <p:nvPr/>
        </p:nvSpPr>
        <p:spPr>
          <a:xfrm>
            <a:off x="502920" y="3794760"/>
            <a:ext cx="11155680" cy="1115568"/>
          </a:xfrm>
          <a:prstGeom prst="rect">
            <a:avLst/>
          </a:prstGeom>
          <a:solidFill>
            <a:srgbClr val="F7F3E8"/>
          </a:solidFill>
          <a:ln w="9525">
            <a:solidFill>
              <a:srgbClr val="C8C0AE"/>
            </a:solidFill>
            <a:prstDash val="solid"/>
          </a:ln>
        </p:spPr>
      </p:sp>
      <p:sp>
        <p:nvSpPr>
          <p:cNvPr id="14" name="Text 12"/>
          <p:cNvSpPr/>
          <p:nvPr/>
        </p:nvSpPr>
        <p:spPr>
          <a:xfrm>
            <a:off x="731520" y="408736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554480" y="408736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PageRank</a:t>
            </a:r>
            <a:endParaRPr lang="en-US" sz="2000" dirty="0"/>
          </a:p>
        </p:txBody>
      </p:sp>
      <p:sp>
        <p:nvSpPr>
          <p:cNvPr id="16" name="Text 14"/>
          <p:cNvSpPr/>
          <p:nvPr/>
        </p:nvSpPr>
        <p:spPr>
          <a:xfrm>
            <a:off x="4297680" y="410565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40 vòng, damping 0.85.</a:t>
            </a:r>
            <a:endParaRPr lang="en-US" sz="1800" dirty="0"/>
          </a:p>
        </p:txBody>
      </p:sp>
      <p:sp>
        <p:nvSpPr>
          <p:cNvPr id="17" name="Shape 15"/>
          <p:cNvSpPr/>
          <p:nvPr/>
        </p:nvSpPr>
        <p:spPr>
          <a:xfrm>
            <a:off x="502920" y="5029200"/>
            <a:ext cx="11155680" cy="1115568"/>
          </a:xfrm>
          <a:prstGeom prst="rect">
            <a:avLst/>
          </a:prstGeom>
          <a:solidFill>
            <a:srgbClr val="F7F3E8"/>
          </a:solidFill>
          <a:ln w="9525">
            <a:solidFill>
              <a:srgbClr val="C8C0AE"/>
            </a:solidFill>
            <a:prstDash val="solid"/>
          </a:ln>
        </p:spPr>
      </p:sp>
      <p:sp>
        <p:nvSpPr>
          <p:cNvPr id="18" name="Text 16"/>
          <p:cNvSpPr/>
          <p:nvPr/>
        </p:nvSpPr>
        <p:spPr>
          <a:xfrm>
            <a:off x="731520" y="532180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4</a:t>
            </a:r>
            <a:endParaRPr lang="en-US" sz="2400" dirty="0"/>
          </a:p>
        </p:txBody>
      </p:sp>
      <p:sp>
        <p:nvSpPr>
          <p:cNvPr id="19" name="Text 17"/>
          <p:cNvSpPr/>
          <p:nvPr/>
        </p:nvSpPr>
        <p:spPr>
          <a:xfrm>
            <a:off x="1554480" y="532180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Lấy ba câu</a:t>
            </a:r>
            <a:endParaRPr lang="en-US" sz="2000" dirty="0"/>
          </a:p>
        </p:txBody>
      </p:sp>
      <p:sp>
        <p:nvSpPr>
          <p:cNvPr id="20" name="Text 18"/>
          <p:cNvSpPr/>
          <p:nvPr/>
        </p:nvSpPr>
        <p:spPr>
          <a:xfrm>
            <a:off x="4297680" y="534009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Giữ thứ tự xuất hiện trong bài.</a:t>
            </a:r>
            <a:endParaRPr lang="en-US" sz="1800" dirty="0"/>
          </a:p>
        </p:txBody>
      </p:sp>
      <p:sp>
        <p:nvSpPr>
          <p:cNvPr id="21" name="Text 1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22" name="Text 2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11   VIT5</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Checkpoint có sẵn</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 viết câu mới từ checkpoint có sẵn</a:t>
            </a:r>
            <a:endParaRPr lang="en-US" sz="2800" dirty="0"/>
          </a:p>
        </p:txBody>
      </p:sp>
      <p:sp>
        <p:nvSpPr>
          <p:cNvPr id="5" name="Shape 3"/>
          <p:cNvSpPr/>
          <p:nvPr/>
        </p:nvSpPr>
        <p:spPr>
          <a:xfrm>
            <a:off x="502920" y="1371600"/>
            <a:ext cx="11155680" cy="1051560"/>
          </a:xfrm>
          <a:prstGeom prst="rect">
            <a:avLst/>
          </a:prstGeom>
          <a:solidFill>
            <a:srgbClr val="F7F3E8"/>
          </a:solidFill>
          <a:ln w="9525">
            <a:solidFill>
              <a:srgbClr val="C8C0AE"/>
            </a:solidFill>
            <a:prstDash val="solid"/>
          </a:ln>
        </p:spPr>
      </p:sp>
      <p:sp>
        <p:nvSpPr>
          <p:cNvPr id="6" name="Text 4"/>
          <p:cNvSpPr/>
          <p:nvPr/>
        </p:nvSpPr>
        <p:spPr>
          <a:xfrm>
            <a:off x="731520" y="166420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Model</a:t>
            </a:r>
            <a:endParaRPr lang="en-US" sz="1800" dirty="0"/>
          </a:p>
        </p:txBody>
      </p:sp>
      <p:sp>
        <p:nvSpPr>
          <p:cNvPr id="7" name="Text 5"/>
          <p:cNvSpPr/>
          <p:nvPr/>
        </p:nvSpPr>
        <p:spPr>
          <a:xfrm>
            <a:off x="3566160" y="166420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VietAI/vit5-base-vietnews-summarization</a:t>
            </a:r>
            <a:endParaRPr lang="en-US" sz="1800" dirty="0"/>
          </a:p>
        </p:txBody>
      </p:sp>
      <p:sp>
        <p:nvSpPr>
          <p:cNvPr id="8" name="Shape 6"/>
          <p:cNvSpPr/>
          <p:nvPr/>
        </p:nvSpPr>
        <p:spPr>
          <a:xfrm>
            <a:off x="502920" y="2560320"/>
            <a:ext cx="11155680" cy="1051560"/>
          </a:xfrm>
          <a:prstGeom prst="rect">
            <a:avLst/>
          </a:prstGeom>
          <a:solidFill>
            <a:srgbClr val="F7F3E8"/>
          </a:solidFill>
          <a:ln w="9525">
            <a:solidFill>
              <a:srgbClr val="C8C0AE"/>
            </a:solidFill>
            <a:prstDash val="solid"/>
          </a:ln>
        </p:spPr>
      </p:sp>
      <p:sp>
        <p:nvSpPr>
          <p:cNvPr id="9" name="Text 7"/>
          <p:cNvSpPr/>
          <p:nvPr/>
        </p:nvSpPr>
        <p:spPr>
          <a:xfrm>
            <a:off x="731520" y="285292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Việc của nhóm</a:t>
            </a:r>
            <a:endParaRPr lang="en-US" sz="1800" dirty="0"/>
          </a:p>
        </p:txBody>
      </p:sp>
      <p:sp>
        <p:nvSpPr>
          <p:cNvPr id="10" name="Text 8"/>
          <p:cNvSpPr/>
          <p:nvPr/>
        </p:nvSpPr>
        <p:spPr>
          <a:xfrm>
            <a:off x="3566160" y="285292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Cho model đọc bài và viết tóm tắt. Trọng số giữ nguyên như checkpoint.</a:t>
            </a:r>
            <a:endParaRPr lang="en-US" sz="1800" dirty="0"/>
          </a:p>
        </p:txBody>
      </p:sp>
      <p:sp>
        <p:nvSpPr>
          <p:cNvPr id="11" name="Shape 9"/>
          <p:cNvSpPr/>
          <p:nvPr/>
        </p:nvSpPr>
        <p:spPr>
          <a:xfrm>
            <a:off x="502920" y="3749040"/>
            <a:ext cx="11155680" cy="1051560"/>
          </a:xfrm>
          <a:prstGeom prst="rect">
            <a:avLst/>
          </a:prstGeom>
          <a:solidFill>
            <a:srgbClr val="F7F3E8"/>
          </a:solidFill>
          <a:ln w="9525">
            <a:solidFill>
              <a:srgbClr val="C8C0AE"/>
            </a:solidFill>
            <a:prstDash val="solid"/>
          </a:ln>
        </p:spPr>
      </p:sp>
      <p:sp>
        <p:nvSpPr>
          <p:cNvPr id="12" name="Text 10"/>
          <p:cNvSpPr/>
          <p:nvPr/>
        </p:nvSpPr>
        <p:spPr>
          <a:xfrm>
            <a:off x="731520" y="404164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Đưa vào</a:t>
            </a:r>
            <a:endParaRPr lang="en-US" sz="1800" dirty="0"/>
          </a:p>
        </p:txBody>
      </p:sp>
      <p:sp>
        <p:nvSpPr>
          <p:cNvPr id="13" name="Text 11"/>
          <p:cNvSpPr/>
          <p:nvPr/>
        </p:nvSpPr>
        <p:spPr>
          <a:xfrm>
            <a:off x="3566160" y="404164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Thân bài, thêm ký hiệu kết thúc. Tối đa 1.024 token.</a:t>
            </a:r>
            <a:endParaRPr lang="en-US" sz="1800" dirty="0"/>
          </a:p>
        </p:txBody>
      </p:sp>
      <p:sp>
        <p:nvSpPr>
          <p:cNvPr id="14" name="Shape 12"/>
          <p:cNvSpPr/>
          <p:nvPr/>
        </p:nvSpPr>
        <p:spPr>
          <a:xfrm>
            <a:off x="502920" y="4937760"/>
            <a:ext cx="11155680" cy="1051560"/>
          </a:xfrm>
          <a:prstGeom prst="rect">
            <a:avLst/>
          </a:prstGeom>
          <a:solidFill>
            <a:srgbClr val="F7F3E8"/>
          </a:solidFill>
          <a:ln w="9525">
            <a:solidFill>
              <a:srgbClr val="C8C0AE"/>
            </a:solidFill>
            <a:prstDash val="solid"/>
          </a:ln>
        </p:spPr>
      </p:sp>
      <p:sp>
        <p:nvSpPr>
          <p:cNvPr id="15" name="Text 13"/>
          <p:cNvSpPr/>
          <p:nvPr/>
        </p:nvSpPr>
        <p:spPr>
          <a:xfrm>
            <a:off x="731520" y="523036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Sinh ra</a:t>
            </a:r>
            <a:endParaRPr lang="en-US" sz="1800" dirty="0"/>
          </a:p>
        </p:txBody>
      </p:sp>
      <p:sp>
        <p:nvSpPr>
          <p:cNvPr id="16" name="Text 14"/>
          <p:cNvSpPr/>
          <p:nvPr/>
        </p:nvSpPr>
        <p:spPr>
          <a:xfrm>
            <a:off x="3566160" y="523036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Mỗi bản tóm tắt dài tối đa 256 token.</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12   THIẾT LẬP</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Cùng tập, cùng cách chấm</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hệ nhìn cùng các bài test</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4709160"/>
        </p:xfrm>
        <a:graphic>
          <a:graphicData uri="http://schemas.openxmlformats.org/drawingml/2006/table">
            <a:tbl>
              <a:tblPr/>
              <a:tblGrid>
                <a:gridCol w="2743200"/>
                <a:gridCol w="8412480"/>
              </a:tblGrid>
              <a:tr h="784860">
                <a:tc>
                  <a:txBody>
                    <a:bodyPr/>
                    <a:lstStyle/>
                    <a:p>
                      <a:pPr algn="l" indent="0" marL="0">
                        <a:buNone/>
                      </a:pPr>
                      <a:r>
                        <a:rPr lang="en-US" sz="1800" b="1" dirty="0">
                          <a:solidFill>
                            <a:srgbClr val="EFE8D6"/>
                          </a:solidFill>
                          <a:latin typeface="Calibri" pitchFamily="34" charset="0"/>
                          <a:ea typeface="Calibri" pitchFamily="34" charset="-122"/>
                          <a:cs typeface="Calibri" pitchFamily="34" charset="-120"/>
                        </a:rPr>
                        <a:t>Hạng mục</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l" indent="0" marL="0">
                        <a:buNone/>
                      </a:pPr>
                      <a:r>
                        <a:rPr lang="en-US" sz="1800" b="1" dirty="0">
                          <a:solidFill>
                            <a:srgbClr val="EFE8D6"/>
                          </a:solidFill>
                          <a:latin typeface="Calibri" pitchFamily="34" charset="0"/>
                          <a:ea typeface="Calibri" pitchFamily="34" charset="-122"/>
                          <a:cs typeface="Calibri" pitchFamily="34" charset="-120"/>
                        </a:rPr>
                        <a:t>Cách nhóm làm</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Tập 100</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Bài 000001 đến 000100, chạy trước</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Tập 500</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Bài 000001 đến 000500, gồm cả 100 bài trên</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Ba cách</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Lead-3, TextRank và ViT5 trên cùng các bài</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Cách chấm</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ROUGE-1, ROUGE-2, ROUGE-L, lấy điểm F1</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ViT5</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Sinh một lần trên Kaggle, rồi lưu file kết quả</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bl>
          </a:graphicData>
        </a:graphic>
      </p:graphicFrame>
      <p:sp>
        <p:nvSpPr>
          <p:cNvPr id="6" name="Text 3"/>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7" name="Text 4"/>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13   KẾT QUẢ</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500 bài test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 cao hơn một chút, Lead-3 vẫn gần</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2880360"/>
        </p:xfrm>
        <a:graphic>
          <a:graphicData uri="http://schemas.openxmlformats.org/drawingml/2006/table">
            <a:tbl>
              <a:tblPr/>
              <a:tblGrid>
                <a:gridCol w="2926080"/>
                <a:gridCol w="2743200"/>
                <a:gridCol w="2743200"/>
                <a:gridCol w="2743200"/>
              </a:tblGrid>
              <a:tr h="720090">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Cách làm</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ROUGE-1</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ROUGE-2</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ROUGE-L</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r>
              <a:tr h="720090">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Lead-3</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0.2569</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0.1294</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0.1856</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20090">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TextRank</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0.2499</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0.1198</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0.1815</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20090">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ViT5</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0.2784</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0.1474</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0.2233</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r>
            </a:tbl>
          </a:graphicData>
        </a:graphic>
      </p:graphicFrame>
      <p:sp>
        <p:nvSpPr>
          <p:cNvPr id="6" name="Text 3"/>
          <p:cNvSpPr/>
          <p:nvPr/>
        </p:nvSpPr>
        <p:spPr>
          <a:xfrm>
            <a:off x="502920" y="4434840"/>
            <a:ext cx="11155680" cy="13716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Trên 500 bài, TextRank thấp hơn Lead-3. Lấy một câu đầu đã đạt 0.2719. ViT5 chỉ hơn mức đó một ít. Số này do nhóm tính.</a:t>
            </a:r>
            <a:endParaRPr lang="en-US" sz="1800" dirty="0"/>
          </a:p>
        </p:txBody>
      </p:sp>
      <p:sp>
        <p:nvSpPr>
          <p:cNvPr id="7" name="Text 4"/>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8" name="Text 5"/>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14   ĐỌC TAY</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Hai ví dụ</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Trùng nhiều chữ vẫn có thể sai việc</a:t>
            </a:r>
            <a:endParaRPr lang="en-US" sz="2800" dirty="0"/>
          </a:p>
        </p:txBody>
      </p:sp>
      <p:sp>
        <p:nvSpPr>
          <p:cNvPr id="5" name="Shape 3"/>
          <p:cNvSpPr/>
          <p:nvPr/>
        </p:nvSpPr>
        <p:spPr>
          <a:xfrm>
            <a:off x="502920" y="1325880"/>
            <a:ext cx="5532120" cy="4709160"/>
          </a:xfrm>
          <a:prstGeom prst="rect">
            <a:avLst/>
          </a:prstGeom>
          <a:solidFill>
            <a:srgbClr val="F7F3E8"/>
          </a:solidFill>
          <a:ln w="9525">
            <a:solidFill>
              <a:srgbClr val="C8C0AE"/>
            </a:solidFill>
            <a:prstDash val="solid"/>
          </a:ln>
        </p:spPr>
      </p:sp>
      <p:sp>
        <p:nvSpPr>
          <p:cNvPr id="6" name="Shape 4"/>
          <p:cNvSpPr/>
          <p:nvPr/>
        </p:nvSpPr>
        <p:spPr>
          <a:xfrm>
            <a:off x="6217920" y="1325880"/>
            <a:ext cx="5486400" cy="4709160"/>
          </a:xfrm>
          <a:prstGeom prst="rect">
            <a:avLst/>
          </a:prstGeom>
          <a:solidFill>
            <a:srgbClr val="F2E5D0"/>
          </a:solidFill>
          <a:ln w="9525">
            <a:solidFill>
              <a:srgbClr val="C8C0AE"/>
            </a:solidFill>
            <a:prstDash val="solid"/>
          </a:ln>
        </p:spPr>
      </p:sp>
      <p:sp>
        <p:nvSpPr>
          <p:cNvPr id="7" name="Text 5"/>
          <p:cNvSpPr/>
          <p:nvPr/>
        </p:nvSpPr>
        <p:spPr>
          <a:xfrm>
            <a:off x="731520" y="1508760"/>
            <a:ext cx="512064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000021  ·  sai tên</a:t>
            </a:r>
            <a:endParaRPr lang="en-US" sz="1600" dirty="0"/>
          </a:p>
        </p:txBody>
      </p:sp>
      <p:sp>
        <p:nvSpPr>
          <p:cNvPr id="8" name="Text 6"/>
          <p:cNvSpPr/>
          <p:nvPr/>
        </p:nvSpPr>
        <p:spPr>
          <a:xfrm>
            <a:off x="731520" y="2011680"/>
            <a:ext cx="5074920" cy="356616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Trong bài, Nguyễn Văn Được dùng dây dù siết cổ bạn gái.</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ViT5 viết: Nguyễn "Văn" được cho là đã dùng dây dù.</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Bài này vẫn đạt ROUGE-1 bằng 0.5161 trên bảng 100 bài.</a:t>
            </a:r>
            <a:endParaRPr lang="en-US" sz="1800" dirty="0"/>
          </a:p>
        </p:txBody>
      </p:sp>
      <p:sp>
        <p:nvSpPr>
          <p:cNvPr id="9" name="Text 7"/>
          <p:cNvSpPr/>
          <p:nvPr/>
        </p:nvSpPr>
        <p:spPr>
          <a:xfrm>
            <a:off x="6446520" y="150876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000011  ·  sai đồ vật</a:t>
            </a:r>
            <a:endParaRPr lang="en-US" sz="1600" dirty="0"/>
          </a:p>
        </p:txBody>
      </p:sp>
      <p:sp>
        <p:nvSpPr>
          <p:cNvPr id="10" name="Text 8"/>
          <p:cNvSpPr/>
          <p:nvPr/>
        </p:nvSpPr>
        <p:spPr>
          <a:xfrm>
            <a:off x="6446520" y="2011680"/>
            <a:ext cx="5029200" cy="356616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Thân bài: Nguyễn Văn Tú thuê xe chở máy ủi đem bán.</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ViT5: trộm được xe bồn.</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Xe bồn không có trong thân bài.</a:t>
            </a:r>
            <a:endParaRPr lang="en-US" sz="1800" dirty="0"/>
          </a:p>
        </p:txBody>
      </p:sp>
      <p:sp>
        <p:nvSpPr>
          <p:cNvPr id="11" name="Text 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2" name="Text 1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15   DEMO</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Cùng một bài</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cột trên cùng một bài</a:t>
            </a:r>
            <a:endParaRPr lang="en-US" sz="2800" dirty="0"/>
          </a:p>
        </p:txBody>
      </p:sp>
      <p:sp>
        <p:nvSpPr>
          <p:cNvPr id="5" name="Shape 3"/>
          <p:cNvSpPr/>
          <p:nvPr/>
        </p:nvSpPr>
        <p:spPr>
          <a:xfrm>
            <a:off x="502920" y="1554480"/>
            <a:ext cx="3611880" cy="4297680"/>
          </a:xfrm>
          <a:prstGeom prst="rect">
            <a:avLst/>
          </a:prstGeom>
          <a:solidFill>
            <a:srgbClr val="F7F3E8"/>
          </a:solidFill>
          <a:ln w="9525">
            <a:solidFill>
              <a:srgbClr val="C8C0AE"/>
            </a:solidFill>
            <a:prstDash val="solid"/>
          </a:ln>
        </p:spPr>
      </p:sp>
      <p:sp>
        <p:nvSpPr>
          <p:cNvPr id="6" name="Text 4"/>
          <p:cNvSpPr/>
          <p:nvPr/>
        </p:nvSpPr>
        <p:spPr>
          <a:xfrm>
            <a:off x="777240" y="1874520"/>
            <a:ext cx="3063240" cy="64008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Lead-3</a:t>
            </a:r>
            <a:endParaRPr lang="en-US" sz="2800" dirty="0"/>
          </a:p>
        </p:txBody>
      </p:sp>
      <p:sp>
        <p:nvSpPr>
          <p:cNvPr id="7" name="Text 5"/>
          <p:cNvSpPr/>
          <p:nvPr/>
        </p:nvSpPr>
        <p:spPr>
          <a:xfrm>
            <a:off x="777240" y="2743200"/>
            <a:ext cx="3063240" cy="2377440"/>
          </a:xfrm>
          <a:prstGeom prst="rect">
            <a:avLst/>
          </a:prstGeom>
          <a:noFill/>
          <a:ln/>
        </p:spPr>
        <p:txBody>
          <a:bodyPr wrap="square" lIns="0" tIns="0" rIns="0" bIns="0" rtlCol="0" anchor="ctr"/>
          <a:lstStyle/>
          <a:p>
            <a:pPr indent="0" marL="0">
              <a:buNone/>
            </a:pPr>
            <a:r>
              <a:rPr lang="en-US" sz="2000" dirty="0">
                <a:solidFill>
                  <a:srgbClr val="2B2B2B"/>
                </a:solidFill>
                <a:latin typeface="Calibri" pitchFamily="34" charset="0"/>
                <a:ea typeface="Calibri" pitchFamily="34" charset="-122"/>
                <a:cs typeface="Calibri" pitchFamily="34" charset="-120"/>
              </a:rPr>
              <a:t>Ba câu đầu của thân bài.</a:t>
            </a:r>
            <a:endParaRPr lang="en-US" sz="2000" dirty="0"/>
          </a:p>
        </p:txBody>
      </p:sp>
      <p:sp>
        <p:nvSpPr>
          <p:cNvPr id="8" name="Shape 6"/>
          <p:cNvSpPr/>
          <p:nvPr/>
        </p:nvSpPr>
        <p:spPr>
          <a:xfrm>
            <a:off x="4343400" y="1554480"/>
            <a:ext cx="3611880" cy="4297680"/>
          </a:xfrm>
          <a:prstGeom prst="rect">
            <a:avLst/>
          </a:prstGeom>
          <a:solidFill>
            <a:srgbClr val="F7F3E8"/>
          </a:solidFill>
          <a:ln w="9525">
            <a:solidFill>
              <a:srgbClr val="C8C0AE"/>
            </a:solidFill>
            <a:prstDash val="solid"/>
          </a:ln>
        </p:spPr>
      </p:sp>
      <p:sp>
        <p:nvSpPr>
          <p:cNvPr id="9" name="Text 7"/>
          <p:cNvSpPr/>
          <p:nvPr/>
        </p:nvSpPr>
        <p:spPr>
          <a:xfrm>
            <a:off x="4617720" y="1874520"/>
            <a:ext cx="3063240" cy="64008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TextRank</a:t>
            </a:r>
            <a:endParaRPr lang="en-US" sz="2800" dirty="0"/>
          </a:p>
        </p:txBody>
      </p:sp>
      <p:sp>
        <p:nvSpPr>
          <p:cNvPr id="10" name="Text 8"/>
          <p:cNvSpPr/>
          <p:nvPr/>
        </p:nvSpPr>
        <p:spPr>
          <a:xfrm>
            <a:off x="4617720" y="2743200"/>
            <a:ext cx="3063240" cy="2377440"/>
          </a:xfrm>
          <a:prstGeom prst="rect">
            <a:avLst/>
          </a:prstGeom>
          <a:noFill/>
          <a:ln/>
        </p:spPr>
        <p:txBody>
          <a:bodyPr wrap="square" lIns="0" tIns="0" rIns="0" bIns="0" rtlCol="0" anchor="ctr"/>
          <a:lstStyle/>
          <a:p>
            <a:pPr indent="0" marL="0">
              <a:buNone/>
            </a:pPr>
            <a:r>
              <a:rPr lang="en-US" sz="2000" dirty="0">
                <a:solidFill>
                  <a:srgbClr val="2B2B2B"/>
                </a:solidFill>
                <a:latin typeface="Calibri" pitchFamily="34" charset="0"/>
                <a:ea typeface="Calibri" pitchFamily="34" charset="-122"/>
                <a:cs typeface="Calibri" pitchFamily="34" charset="-120"/>
              </a:rPr>
              <a:t>Ba câu được chọn trong thân bài.</a:t>
            </a:r>
            <a:endParaRPr lang="en-US" sz="2000" dirty="0"/>
          </a:p>
        </p:txBody>
      </p:sp>
      <p:sp>
        <p:nvSpPr>
          <p:cNvPr id="11" name="Shape 9"/>
          <p:cNvSpPr/>
          <p:nvPr/>
        </p:nvSpPr>
        <p:spPr>
          <a:xfrm>
            <a:off x="8183880" y="1554480"/>
            <a:ext cx="3611880" cy="4297680"/>
          </a:xfrm>
          <a:prstGeom prst="rect">
            <a:avLst/>
          </a:prstGeom>
          <a:solidFill>
            <a:srgbClr val="F2E5D0"/>
          </a:solidFill>
          <a:ln w="9525">
            <a:solidFill>
              <a:srgbClr val="C8C0AE"/>
            </a:solidFill>
            <a:prstDash val="solid"/>
          </a:ln>
        </p:spPr>
      </p:sp>
      <p:sp>
        <p:nvSpPr>
          <p:cNvPr id="12" name="Text 10"/>
          <p:cNvSpPr/>
          <p:nvPr/>
        </p:nvSpPr>
        <p:spPr>
          <a:xfrm>
            <a:off x="8458200" y="1874520"/>
            <a:ext cx="3063240" cy="64008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a:t>
            </a:r>
            <a:endParaRPr lang="en-US" sz="2800" dirty="0"/>
          </a:p>
        </p:txBody>
      </p:sp>
      <p:sp>
        <p:nvSpPr>
          <p:cNvPr id="13" name="Text 11"/>
          <p:cNvSpPr/>
          <p:nvPr/>
        </p:nvSpPr>
        <p:spPr>
          <a:xfrm>
            <a:off x="8458200" y="2743200"/>
            <a:ext cx="3063240" cy="2377440"/>
          </a:xfrm>
          <a:prstGeom prst="rect">
            <a:avLst/>
          </a:prstGeom>
          <a:noFill/>
          <a:ln/>
        </p:spPr>
        <p:txBody>
          <a:bodyPr wrap="square" lIns="0" tIns="0" rIns="0" bIns="0" rtlCol="0" anchor="ctr"/>
          <a:lstStyle/>
          <a:p>
            <a:pPr indent="0" marL="0">
              <a:buNone/>
            </a:pPr>
            <a:r>
              <a:rPr lang="en-US" sz="2000" dirty="0">
                <a:solidFill>
                  <a:srgbClr val="2B2B2B"/>
                </a:solidFill>
                <a:latin typeface="Calibri" pitchFamily="34" charset="0"/>
                <a:ea typeface="Calibri" pitchFamily="34" charset="-122"/>
                <a:cs typeface="Calibri" pitchFamily="34" charset="-120"/>
              </a:rPr>
              <a:t>Câu viết mới, lấy từ kết quả đã lưu.</a:t>
            </a:r>
            <a:endParaRPr lang="en-US" sz="20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16   KẾT LUẬN</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Và hạn chế</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 hơn một chút về chữ trùng</a:t>
            </a:r>
            <a:endParaRPr lang="en-US" sz="2800" dirty="0"/>
          </a:p>
        </p:txBody>
      </p:sp>
      <p:sp>
        <p:nvSpPr>
          <p:cNvPr id="5" name="Shape 3"/>
          <p:cNvSpPr/>
          <p:nvPr/>
        </p:nvSpPr>
        <p:spPr>
          <a:xfrm>
            <a:off x="502920" y="1325880"/>
            <a:ext cx="5532120" cy="4709160"/>
          </a:xfrm>
          <a:prstGeom prst="rect">
            <a:avLst/>
          </a:prstGeom>
          <a:solidFill>
            <a:srgbClr val="F7F3E8"/>
          </a:solidFill>
          <a:ln w="9525">
            <a:solidFill>
              <a:srgbClr val="C8C0AE"/>
            </a:solidFill>
            <a:prstDash val="solid"/>
          </a:ln>
        </p:spPr>
      </p:sp>
      <p:sp>
        <p:nvSpPr>
          <p:cNvPr id="6" name="Shape 4"/>
          <p:cNvSpPr/>
          <p:nvPr/>
        </p:nvSpPr>
        <p:spPr>
          <a:xfrm>
            <a:off x="6217920" y="1325880"/>
            <a:ext cx="5486400" cy="4709160"/>
          </a:xfrm>
          <a:prstGeom prst="rect">
            <a:avLst/>
          </a:prstGeom>
          <a:solidFill>
            <a:srgbClr val="F2E5D0"/>
          </a:solidFill>
          <a:ln w="9525">
            <a:solidFill>
              <a:srgbClr val="C8C0AE"/>
            </a:solidFill>
            <a:prstDash val="solid"/>
          </a:ln>
        </p:spPr>
      </p:sp>
      <p:sp>
        <p:nvSpPr>
          <p:cNvPr id="7" name="Text 5"/>
          <p:cNvSpPr/>
          <p:nvPr/>
        </p:nvSpPr>
        <p:spPr>
          <a:xfrm>
            <a:off x="731520" y="1554480"/>
            <a:ext cx="507492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Nhận được</a:t>
            </a:r>
            <a:endParaRPr lang="en-US" sz="1600" dirty="0"/>
          </a:p>
        </p:txBody>
      </p:sp>
      <p:sp>
        <p:nvSpPr>
          <p:cNvPr id="8" name="Text 6"/>
          <p:cNvSpPr/>
          <p:nvPr/>
        </p:nvSpPr>
        <p:spPr>
          <a:xfrm>
            <a:off x="731520" y="2103120"/>
            <a:ext cx="5074920" cy="34747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Trên 500 bài, ViT5 có ROUGE cao hơn Lead-3 và TextRank.</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Lead-3 là mốc mạnh vì ý tin thường ở đầu.</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Đọc tay vẫn thấy ViT5 sai tên và sai đồ vật.</a:t>
            </a:r>
            <a:endParaRPr lang="en-US" sz="1800" dirty="0"/>
          </a:p>
        </p:txBody>
      </p:sp>
      <p:sp>
        <p:nvSpPr>
          <p:cNvPr id="9" name="Text 7"/>
          <p:cNvSpPr/>
          <p:nvPr/>
        </p:nvSpPr>
        <p:spPr>
          <a:xfrm>
            <a:off x="6446520" y="155448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Hạn chế</a:t>
            </a:r>
            <a:endParaRPr lang="en-US" sz="1600" dirty="0"/>
          </a:p>
        </p:txBody>
      </p:sp>
      <p:sp>
        <p:nvSpPr>
          <p:cNvPr id="10" name="Text 8"/>
          <p:cNvSpPr/>
          <p:nvPr/>
        </p:nvSpPr>
        <p:spPr>
          <a:xfrm>
            <a:off x="6446520" y="2103120"/>
            <a:ext cx="5029200" cy="34747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ROUGE chỉ đo phần chữ trùng với sapo.</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Nhóm mới đọc khoảng 20 bài.</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Bài báo chấm theo cách khác, nên không đặt bảng đó cạnh bảng của nhóm.</a:t>
            </a:r>
            <a:endParaRPr lang="en-US" sz="1800" dirty="0"/>
          </a:p>
        </p:txBody>
      </p:sp>
      <p:sp>
        <p:nvSpPr>
          <p:cNvPr id="11" name="Text 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2" name="Text 1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17   NẾU LÀM TIẾP</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Ngoài phạm vi hiện tại</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việc có thể làm sau đồ án này</a:t>
            </a:r>
            <a:endParaRPr lang="en-US" sz="2800" dirty="0"/>
          </a:p>
        </p:txBody>
      </p:sp>
      <p:sp>
        <p:nvSpPr>
          <p:cNvPr id="5" name="Shape 3"/>
          <p:cNvSpPr/>
          <p:nvPr/>
        </p:nvSpPr>
        <p:spPr>
          <a:xfrm>
            <a:off x="502920" y="1371600"/>
            <a:ext cx="11155680" cy="1444752"/>
          </a:xfrm>
          <a:prstGeom prst="rect">
            <a:avLst/>
          </a:prstGeom>
          <a:solidFill>
            <a:srgbClr val="F7F3E8"/>
          </a:solidFill>
          <a:ln w="9525">
            <a:solidFill>
              <a:srgbClr val="C8C0AE"/>
            </a:solidFill>
            <a:prstDash val="solid"/>
          </a:ln>
        </p:spPr>
      </p:sp>
      <p:sp>
        <p:nvSpPr>
          <p:cNvPr id="6" name="Text 4"/>
          <p:cNvSpPr/>
          <p:nvPr/>
        </p:nvSpPr>
        <p:spPr>
          <a:xfrm>
            <a:off x="731520" y="1783080"/>
            <a:ext cx="1005840" cy="50292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01</a:t>
            </a:r>
            <a:endParaRPr lang="en-US" sz="2400" dirty="0"/>
          </a:p>
        </p:txBody>
      </p:sp>
      <p:sp>
        <p:nvSpPr>
          <p:cNvPr id="7" name="Text 5"/>
          <p:cNvSpPr/>
          <p:nvPr/>
        </p:nvSpPr>
        <p:spPr>
          <a:xfrm>
            <a:off x="1920240" y="1572768"/>
            <a:ext cx="9326880" cy="41148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Đọc thêm bài</a:t>
            </a:r>
            <a:endParaRPr lang="en-US" sz="2000" dirty="0"/>
          </a:p>
        </p:txBody>
      </p:sp>
      <p:sp>
        <p:nvSpPr>
          <p:cNvPr id="8" name="Text 6"/>
          <p:cNvSpPr/>
          <p:nvPr/>
        </p:nvSpPr>
        <p:spPr>
          <a:xfrm>
            <a:off x="1920240" y="2084832"/>
            <a:ext cx="932688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Đếm lỗi tên, số và đồ vật. Hiện nhóm mới đọc khoảng 20 bài.</a:t>
            </a:r>
            <a:endParaRPr lang="en-US" sz="1800" dirty="0"/>
          </a:p>
        </p:txBody>
      </p:sp>
      <p:sp>
        <p:nvSpPr>
          <p:cNvPr id="9" name="Shape 7"/>
          <p:cNvSpPr/>
          <p:nvPr/>
        </p:nvSpPr>
        <p:spPr>
          <a:xfrm>
            <a:off x="502920" y="2971800"/>
            <a:ext cx="11155680" cy="1444752"/>
          </a:xfrm>
          <a:prstGeom prst="rect">
            <a:avLst/>
          </a:prstGeom>
          <a:solidFill>
            <a:srgbClr val="F7F3E8"/>
          </a:solidFill>
          <a:ln w="9525">
            <a:solidFill>
              <a:srgbClr val="C8C0AE"/>
            </a:solidFill>
            <a:prstDash val="solid"/>
          </a:ln>
        </p:spPr>
      </p:sp>
      <p:sp>
        <p:nvSpPr>
          <p:cNvPr id="10" name="Text 8"/>
          <p:cNvSpPr/>
          <p:nvPr/>
        </p:nvSpPr>
        <p:spPr>
          <a:xfrm>
            <a:off x="731520" y="3383280"/>
            <a:ext cx="1005840" cy="50292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02</a:t>
            </a:r>
            <a:endParaRPr lang="en-US" sz="2400" dirty="0"/>
          </a:p>
        </p:txBody>
      </p:sp>
      <p:sp>
        <p:nvSpPr>
          <p:cNvPr id="11" name="Text 9"/>
          <p:cNvSpPr/>
          <p:nvPr/>
        </p:nvSpPr>
        <p:spPr>
          <a:xfrm>
            <a:off x="1920240" y="3172968"/>
            <a:ext cx="9326880" cy="41148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Bài gồm nhiều tin</a:t>
            </a:r>
            <a:endParaRPr lang="en-US" sz="2000" dirty="0"/>
          </a:p>
        </p:txBody>
      </p:sp>
      <p:sp>
        <p:nvSpPr>
          <p:cNvPr id="12" name="Text 10"/>
          <p:cNvSpPr/>
          <p:nvPr/>
        </p:nvSpPr>
        <p:spPr>
          <a:xfrm>
            <a:off x="1920240" y="3685032"/>
            <a:ext cx="932688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Một sapo có thể gom vài sự việc. Cần tách tin trước khi tóm.</a:t>
            </a:r>
            <a:endParaRPr lang="en-US" sz="1800" dirty="0"/>
          </a:p>
        </p:txBody>
      </p:sp>
      <p:sp>
        <p:nvSpPr>
          <p:cNvPr id="13" name="Shape 11"/>
          <p:cNvSpPr/>
          <p:nvPr/>
        </p:nvSpPr>
        <p:spPr>
          <a:xfrm>
            <a:off x="502920" y="4572000"/>
            <a:ext cx="11155680" cy="1444752"/>
          </a:xfrm>
          <a:prstGeom prst="rect">
            <a:avLst/>
          </a:prstGeom>
          <a:solidFill>
            <a:srgbClr val="F7F3E8"/>
          </a:solidFill>
          <a:ln w="9525">
            <a:solidFill>
              <a:srgbClr val="C8C0AE"/>
            </a:solidFill>
            <a:prstDash val="solid"/>
          </a:ln>
        </p:spPr>
      </p:sp>
      <p:sp>
        <p:nvSpPr>
          <p:cNvPr id="14" name="Text 12"/>
          <p:cNvSpPr/>
          <p:nvPr/>
        </p:nvSpPr>
        <p:spPr>
          <a:xfrm>
            <a:off x="731520" y="4983480"/>
            <a:ext cx="1005840" cy="50292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03</a:t>
            </a:r>
            <a:endParaRPr lang="en-US" sz="2400" dirty="0"/>
          </a:p>
        </p:txBody>
      </p:sp>
      <p:sp>
        <p:nvSpPr>
          <p:cNvPr id="15" name="Text 13"/>
          <p:cNvSpPr/>
          <p:nvPr/>
        </p:nvSpPr>
        <p:spPr>
          <a:xfrm>
            <a:off x="1920240" y="4773168"/>
            <a:ext cx="9326880" cy="41148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Nếu có train sau</a:t>
            </a:r>
            <a:endParaRPr lang="en-US" sz="2000" dirty="0"/>
          </a:p>
        </p:txBody>
      </p:sp>
      <p:sp>
        <p:nvSpPr>
          <p:cNvPr id="16" name="Text 14"/>
          <p:cNvSpPr/>
          <p:nvPr/>
        </p:nvSpPr>
        <p:spPr>
          <a:xfrm>
            <a:off x="1920240" y="5285232"/>
            <a:ext cx="932688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Các bài đang dùng để chấm sẽ để riêng, không đưa vào lúc cập nhật model.</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18   TÀI LIỆU</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Đã dùng</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Tài liệu nhóm đã dùng</a:t>
            </a:r>
            <a:endParaRPr lang="en-US" sz="2800" dirty="0"/>
          </a:p>
        </p:txBody>
      </p:sp>
      <p:sp>
        <p:nvSpPr>
          <p:cNvPr id="5" name="Shape 3"/>
          <p:cNvSpPr/>
          <p:nvPr/>
        </p:nvSpPr>
        <p:spPr>
          <a:xfrm>
            <a:off x="502920" y="1371600"/>
            <a:ext cx="11155680" cy="1051560"/>
          </a:xfrm>
          <a:prstGeom prst="rect">
            <a:avLst/>
          </a:prstGeom>
          <a:solidFill>
            <a:srgbClr val="F7F3E8"/>
          </a:solidFill>
          <a:ln w="9525">
            <a:solidFill>
              <a:srgbClr val="C8C0AE"/>
            </a:solidFill>
            <a:prstDash val="solid"/>
          </a:ln>
        </p:spPr>
      </p:sp>
      <p:sp>
        <p:nvSpPr>
          <p:cNvPr id="6" name="Text 4"/>
          <p:cNvSpPr/>
          <p:nvPr/>
        </p:nvSpPr>
        <p:spPr>
          <a:xfrm>
            <a:off x="731520" y="166420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Vietnews</a:t>
            </a:r>
            <a:endParaRPr lang="en-US" sz="1800" dirty="0"/>
          </a:p>
        </p:txBody>
      </p:sp>
      <p:sp>
        <p:nvSpPr>
          <p:cNvPr id="7" name="Text 5"/>
          <p:cNvSpPr/>
          <p:nvPr/>
        </p:nvSpPr>
        <p:spPr>
          <a:xfrm>
            <a:off x="3200400" y="166420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github.com/ThanhChinhBK/vietnews</a:t>
            </a:r>
            <a:endParaRPr lang="en-US" sz="1800" dirty="0"/>
          </a:p>
        </p:txBody>
      </p:sp>
      <p:sp>
        <p:nvSpPr>
          <p:cNvPr id="8" name="Shape 6"/>
          <p:cNvSpPr/>
          <p:nvPr/>
        </p:nvSpPr>
        <p:spPr>
          <a:xfrm>
            <a:off x="502920" y="2560320"/>
            <a:ext cx="11155680" cy="1051560"/>
          </a:xfrm>
          <a:prstGeom prst="rect">
            <a:avLst/>
          </a:prstGeom>
          <a:solidFill>
            <a:srgbClr val="F7F3E8"/>
          </a:solidFill>
          <a:ln w="9525">
            <a:solidFill>
              <a:srgbClr val="C8C0AE"/>
            </a:solidFill>
            <a:prstDash val="solid"/>
          </a:ln>
        </p:spPr>
      </p:sp>
      <p:sp>
        <p:nvSpPr>
          <p:cNvPr id="9" name="Text 7"/>
          <p:cNvSpPr/>
          <p:nvPr/>
        </p:nvSpPr>
        <p:spPr>
          <a:xfrm>
            <a:off x="731520" y="285292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ViT5</a:t>
            </a:r>
            <a:endParaRPr lang="en-US" sz="1800" dirty="0"/>
          </a:p>
        </p:txBody>
      </p:sp>
      <p:sp>
        <p:nvSpPr>
          <p:cNvPr id="10" name="Text 8"/>
          <p:cNvSpPr/>
          <p:nvPr/>
        </p:nvSpPr>
        <p:spPr>
          <a:xfrm>
            <a:off x="3200400" y="285292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aclanthology.org/2022.naacl-srw.18</a:t>
            </a:r>
            <a:endParaRPr lang="en-US" sz="1800" dirty="0"/>
          </a:p>
        </p:txBody>
      </p:sp>
      <p:sp>
        <p:nvSpPr>
          <p:cNvPr id="11" name="Shape 9"/>
          <p:cNvSpPr/>
          <p:nvPr/>
        </p:nvSpPr>
        <p:spPr>
          <a:xfrm>
            <a:off x="502920" y="3749040"/>
            <a:ext cx="11155680" cy="1051560"/>
          </a:xfrm>
          <a:prstGeom prst="rect">
            <a:avLst/>
          </a:prstGeom>
          <a:solidFill>
            <a:srgbClr val="F7F3E8"/>
          </a:solidFill>
          <a:ln w="9525">
            <a:solidFill>
              <a:srgbClr val="C8C0AE"/>
            </a:solidFill>
            <a:prstDash val="solid"/>
          </a:ln>
        </p:spPr>
      </p:sp>
      <p:sp>
        <p:nvSpPr>
          <p:cNvPr id="12" name="Text 10"/>
          <p:cNvSpPr/>
          <p:nvPr/>
        </p:nvSpPr>
        <p:spPr>
          <a:xfrm>
            <a:off x="731520" y="404164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Checkpoint</a:t>
            </a:r>
            <a:endParaRPr lang="en-US" sz="1800" dirty="0"/>
          </a:p>
        </p:txBody>
      </p:sp>
      <p:sp>
        <p:nvSpPr>
          <p:cNvPr id="13" name="Text 11"/>
          <p:cNvSpPr/>
          <p:nvPr/>
        </p:nvSpPr>
        <p:spPr>
          <a:xfrm>
            <a:off x="3200400" y="404164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huggingface.co/VietAI/vit5-base-vietnews-summarization</a:t>
            </a:r>
            <a:endParaRPr lang="en-US" sz="1800" dirty="0"/>
          </a:p>
        </p:txBody>
      </p:sp>
      <p:sp>
        <p:nvSpPr>
          <p:cNvPr id="14" name="Shape 12"/>
          <p:cNvSpPr/>
          <p:nvPr/>
        </p:nvSpPr>
        <p:spPr>
          <a:xfrm>
            <a:off x="502920" y="4937760"/>
            <a:ext cx="11155680" cy="1051560"/>
          </a:xfrm>
          <a:prstGeom prst="rect">
            <a:avLst/>
          </a:prstGeom>
          <a:solidFill>
            <a:srgbClr val="F7F3E8"/>
          </a:solidFill>
          <a:ln w="9525">
            <a:solidFill>
              <a:srgbClr val="C8C0AE"/>
            </a:solidFill>
            <a:prstDash val="solid"/>
          </a:ln>
        </p:spPr>
      </p:sp>
      <p:sp>
        <p:nvSpPr>
          <p:cNvPr id="15" name="Text 13"/>
          <p:cNvSpPr/>
          <p:nvPr/>
        </p:nvSpPr>
        <p:spPr>
          <a:xfrm>
            <a:off x="731520" y="523036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Repo nhóm</a:t>
            </a:r>
            <a:endParaRPr lang="en-US" sz="1800" dirty="0"/>
          </a:p>
        </p:txBody>
      </p:sp>
      <p:sp>
        <p:nvSpPr>
          <p:cNvPr id="16" name="Text 14"/>
          <p:cNvSpPr/>
          <p:nvPr/>
        </p:nvSpPr>
        <p:spPr>
          <a:xfrm>
            <a:off x="3200400" y="523036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github.com/hoangdq08/vietnews-summarization-extractive-abstractive</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 sánh tóm tắt rút trích và tóm lược trên tin tức tiếng Việt</dc:title>
  <dc:subject>Bài bảo vệ đồ án</dc:subject>
  <dc:creator>Nhóm 14 · CS221 · UIT</dc:creator>
  <cp:lastModifiedBy>Nhóm 14 · CS221 · UIT</cp:lastModifiedBy>
  <cp:revision>1</cp:revision>
  <dcterms:created xsi:type="dcterms:W3CDTF">2026-09-22T10:15:15Z</dcterms:created>
  <dcterms:modified xsi:type="dcterms:W3CDTF">2026-09-22T10:15:15Z</dcterms:modified>
</cp:coreProperties>
</file>