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chào thầy và các bạn. Nhóm em làm đề tài so sánh tóm tắt rút trích và tóm lược trên tin tiếng Việt. Rút trích là lấy câu có sẵn trong bài. Tóm lược thì nhóm dùng checkpoint ViT5 đã có sẵn, không train thêm. Nhóm muốn xem trên cùng tập test, ba cách này điểm ROUGE khác nhau thế nào, và mở bài ra thì mỗi cách sai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báo thường dài vài trăm từ. Người đọc nhiều khi chỉ cần vài câu nói đúng việc chính. Chương trình lấy thân bài rồi viết lại cho ngắn. Bản ngắn không phải lúc nào cũng đúng ý. Có bài bị mất ý quan trọng. Có bài bị thêm chi tiết mà bài gốc không nói. Ra được bản tóm tắt chưa đủ. Nhóm còn phải xem nó giữ ý đến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chạy ba cách trên dữ liệu Vietnews, chấm bằng ROUGE, rồi đọc một số bài xem sai chỗ nào. Mỗi lần chỉ tóm một bài. Bài giảng có hướng gom nhiều bài rồi tóm chung. Đồ án này không đi hướng đó. Nhóm để từng bài một cho dễ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Đầu vào là thân một bài tiếng Việt. Tiêu đề chỉ để biết đang nói bài nào. Đầu ra là bản ngắn. Lead-3 với TextRank lấy câu có sẵn trong thân bài. ViT5 viết câu mới. Lúc chấm, nhóm so với sapo. Sapo chỉ là bản mẫu để tính ROUGE, không đưa vào ViT5. Đưa sapo vào rồi so lại với chính sapo thì model đã thấy đáp án trước. Muốn biết một câu có đúng việc không thì đọc lại thân bài, vì sapo không ghi hết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Rút trích giữ nguyên câu trong bài, nên ít bịa chữ mới. Đổi lại, câu lấy ra có thể cụt, hoặc không sát sapo. Tóm lược viết câu mới, nghe xuôi hơn, nhưng dễ sai tên, sai số, hoặc đảo người làm việc. Trong tập test, bài 000011 kể việc thuê xe chở máy ủi. Câu rút trích vẫn giữ ý đó. ViT5 viết thành trộm xe bồn.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dùng bộ Vietnews đã công bố, GitHub ThanhChinhBK/vietnews. Model là checkpoint VietAI vit5-base-vietnews-summarization, đi cùng bài NAACL 2022. Phần nhóm chấm là tập test. Trong file, từ đã tách sẵn bằng gạch dưới, ví dụ học_sinh. Nhóm thử trước 100 bài đầu. Số đưa vào báo cáo là 500 bài đầu, theo thứ tự tên file, từ 000001 đến 000500.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file bài báo đến một điểm ROUGE, nhóm đi bốn bước. Đọc file, lấy tiêu đề, sapo và thân bài. Rồi tách câu. Lead-3 và TextRank tính luôn trên máy từ các câu đó. ViT5 lấy câu đã viết sẵn, lưu trong file, lúc bảo vệ không chạy model lại. Cuối cùng so với sapo bằng ROUGE-1, ROUGE-2 và ROUGE-L.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không tách từ lại. File Vietnews đã ghi học_sinh là một từ. Mỗi dòng thường là một câu. Dòng nào chưa hết câu thì nối đến khi gặp dấu chấm. Lúc chấm, nhóm đổi gạch dưới ở cả bản tóm tắt lẫn sapo thành khoảng trắng, rồi tách theo khoảng trắng. Làm vậy thì chữ của ViT5 và chữ của sapo so được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Lead-3 lấy tối đa ba câu đầu thân bài. Bài có hai câu thì lấy hai câu. Không xếp lại, cũng không chấm câu nào quan trọng hơn. Tin thường nêu việc chính ngay câu đầu, nên cách này điểm khá cao dù rất đơn giản. Nhóm lấy nó làm mốc, xem TextRank và ViT5 có hơn được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TextRank chọn câu ngay trong bài đang tóm, không học tham số từ bài khác. Mỗi câu là một vector TF-IDF. Cosine đo hai câu giống nhau đến đâu. PageRank chạy 40 vòng, damping 0.85. Câu nào giống nhiều câu khác thì điểm cao. Nhóm lấy ba câu điểm cao và giữ đúng thứ tự trong bài. Vẫn là rút trích. Nhóm chưa phạt hai câu trùng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ViT5 ở đây là checkpoint VietAI/vit5-base-vietnews-summarization. Checkpoint này đã được train để tóm tắt tin Vietnews. Nhóm chỉ đưa bài vào và lấy câu tóm tắt ra. Trọng số giữ nguyên, không cập nhật thêm. Đầu vào là thân bài, thêm ký hiệu kết thúc, dài tối đa 1.024 token. Bản tóm tắt dài tối đa 256 token. Số 256 là giới hạn lúc gọi model, không phải 256 từ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cách nhìn cùng các bài test, và chấm cùng một kiểu. Tập 100 là bài 000001 đến 000100, nhóm chạy trước. Tập 500 là bài 000001 đến 000500, trong đó có cả 100 bài kia. Điểm báo cáo là F1 của ROUGE-1, ROUGE-2 và ROUGE-L. Câu ViT5 sinh một lần trên Kaggle rồi lưu file. Lúc đứng bảo vệ, nhóm chỉ đọc file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500 bài, ViT5 cao hơn Lead-3 và TextRank ở cả ba cột. ROUGE-1 của Lead-3 là 0.2569, TextRank là 0.2499, ViT5 là 0.2784. TextRank không cao hơn cách lấy ba câu đầu. Chỉ lấy một câu đầu thì ROUGE-1 đã là 0.2719. ViT5 chỉ hơn mức đó một ít. Đây là số nhóm tự tính. Bài báo chấm theo cách khác, nên nhóm không kéo bảng của bài báo ra đặt cạnh.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bảng chưa đủ. Nhóm mở thân bài ra đọc. Bài 000021, trong bài Nguyễn Văn Được dùng dây dù siết cổ bạn gái. ViT5 viết thành Nguyễn Văn được cho là đã dùng dây dù. Tên Được bị cắt thành được cho là. Bài này vẫn có ROUGE-1 bằng 0.5161 trên bảng 100 bài, vì nhiều chữ khác vẫn trùng. Bài 000011, thân bài nói Nguyễn Văn Tú thuê xe chở máy ủi đem bán. ViT5 viết trộm được xe bồn. Xe bồn không có trong thân bài. Hai chỗ này nhóm đối với bài gốc, không chỉ nhìn sapo.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khoảng 20 giây rồi chuyển máy. Ba cột này là cùng một bài. Lead-3 lấy ba câu đầu. TextRank chọn ba câu trong thân bài. ViT5 viết câu mới, lấy từ file đã lưu, không chạy model lúc này. Em mở demo. Mở 127.0.0.1 cổng 7860, không gõ Docker. Ô Bài test gõ 000011. Nói: bài thuê xe chở máy ủi. Sapo ở ô tóm tắt mẫu. Lead-3 và TextRank vẫn nói máy ủi vì lấy câu trong bài. ViT5 viết trộm xe bồn, trong bài không có xe bồn. Nếu còn giờ, mở mục Thí nghiệm A/B ViT5 500 bài, chọn 000011, bấm Xem đối chiếu A/B. A giữ gạch dưới, B đổi thành khoảng trắng, cả hai sinh sẵn. ROUGE của B có thể cao hơn, không kết luận B đúng hơn. Rồi về slide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500 bài, ViT5 trùng chữ với sapo nhiều hơn Lead-3 và TextRank. So với một câu đầu thì chỉ hơn một ít. Lead-3 vẫn là mốc mạnh, vì tin hay để ý chính ở đầu bài. Đọc tay thì ViT5 vẫn sai tên và sai đồ vật. ROUGE chỉ đo phần chữ trùng với sapo. Nhóm mới đọc khoảng 100 bài, chưa đọc hết 500. Cách bài báo chấm khác cách nhóm chấm, nên hai bảng không đặt cạnh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làm tiếp, nhóm muốn đọc thêm bài và đếm lỗi tên, lỗi số, lỗi đồ vật. Hiện mới khoảng 100 bài. Có sapo gom vài sự việc vào một đoạn. Những bài đó nên tách tin trước khi tóm. Nếu sau này có train, các bài đang dùng để chấm sẽ để riêng, không đưa vào lúc cập nhật model. Ba việc này nhóm chưa làm trong phần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nguồn này để thầy và các bạn đối chiếu. Dữ liệu Vietnews ở github.com/ThanhChinhBK/vietnews. Bài ViT5 ở aclanthology.org/2022.naacl-srw.18. Checkpoint ở huggingface.co/VietAI/vit5-base-vietnews-summarization. Code nhóm ở github.com/hoangdq08/uit-vietnews-summarization. Em xin dừng phần trình bày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640080" y="1051560"/>
            <a:ext cx="10972800" cy="292608"/>
          </a:xfrm>
          <a:prstGeom prst="rect">
            <a:avLst/>
          </a:prstGeom>
          <a:noFill/>
          <a:ln/>
        </p:spPr>
        <p:txBody>
          <a:bodyPr wrap="square" lIns="0" tIns="0" rIns="0" bIns="0" rtlCol="0" anchor="ctr"/>
          <a:lstStyle/>
          <a:p>
            <a:pPr indent="0" marL="0">
              <a:buNone/>
            </a:pPr>
            <a:r>
              <a:rPr lang="en-US" sz="1400" spc="140" kern="0" dirty="0">
                <a:solidFill>
                  <a:srgbClr val="8A8578"/>
                </a:solidFill>
                <a:latin typeface="Calibri" pitchFamily="34" charset="0"/>
                <a:ea typeface="Calibri" pitchFamily="34" charset="-122"/>
                <a:cs typeface="Calibri" pitchFamily="34" charset="-120"/>
              </a:rPr>
              <a:t>CS221  ·  XỬ LÝ NGÔN NGỮ TỰ NHIÊN  ·  UIT</a:t>
            </a:r>
            <a:endParaRPr lang="en-US" sz="1400" dirty="0"/>
          </a:p>
        </p:txBody>
      </p:sp>
      <p:sp>
        <p:nvSpPr>
          <p:cNvPr id="3" name="Text 1"/>
          <p:cNvSpPr/>
          <p:nvPr/>
        </p:nvSpPr>
        <p:spPr>
          <a:xfrm>
            <a:off x="640080" y="1508760"/>
            <a:ext cx="10972800" cy="1417320"/>
          </a:xfrm>
          <a:prstGeom prst="rect">
            <a:avLst/>
          </a:prstGeom>
          <a:noFill/>
          <a:ln/>
        </p:spPr>
        <p:txBody>
          <a:bodyPr wrap="square" lIns="0" tIns="0" rIns="0" bIns="0" rtlCol="0" anchor="ctr"/>
          <a:lstStyle/>
          <a:p>
            <a:pPr indent="0" marL="0">
              <a:buNone/>
            </a:pPr>
            <a:r>
              <a:rPr lang="en-US" sz="3400" dirty="0">
                <a:solidFill>
                  <a:srgbClr val="1A1A1A"/>
                </a:solidFill>
                <a:latin typeface="Georgia" pitchFamily="34" charset="0"/>
                <a:ea typeface="Georgia" pitchFamily="34" charset="-122"/>
                <a:cs typeface="Georgia" pitchFamily="34" charset="-120"/>
              </a:rPr>
              <a:t>So sánh tóm tắt rút trích</a:t>
            </a:r>
            <a:endParaRPr lang="en-US" sz="3400" dirty="0"/>
          </a:p>
          <a:p>
            <a:pPr indent="0" marL="0">
              <a:buNone/>
            </a:pPr>
            <a:r>
              <a:rPr lang="en-US" sz="3400" dirty="0">
                <a:solidFill>
                  <a:srgbClr val="1A1A1A"/>
                </a:solidFill>
                <a:latin typeface="Georgia" pitchFamily="34" charset="0"/>
                <a:ea typeface="Georgia" pitchFamily="34" charset="-122"/>
                <a:cs typeface="Georgia" pitchFamily="34" charset="-120"/>
              </a:rPr>
              <a:t>và tóm lược trên tin tức tiếng Việt</a:t>
            </a:r>
            <a:endParaRPr lang="en-US" sz="3400" dirty="0"/>
          </a:p>
        </p:txBody>
      </p:sp>
      <p:sp>
        <p:nvSpPr>
          <p:cNvPr id="4" name="Text 2"/>
          <p:cNvSpPr/>
          <p:nvPr/>
        </p:nvSpPr>
        <p:spPr>
          <a:xfrm>
            <a:off x="640080" y="3154680"/>
            <a:ext cx="10058400" cy="347472"/>
          </a:xfrm>
          <a:prstGeom prst="rect">
            <a:avLst/>
          </a:prstGeom>
          <a:noFill/>
          <a:ln/>
        </p:spPr>
        <p:txBody>
          <a:bodyPr wrap="square" lIns="0" tIns="0" rIns="0" bIns="0" rtlCol="0" anchor="ctr"/>
          <a:lstStyle/>
          <a:p>
            <a:pPr indent="0" marL="0">
              <a:buNone/>
            </a:pPr>
            <a:r>
              <a:rPr lang="en-US" sz="1800" i="1" dirty="0">
                <a:solidFill>
                  <a:srgbClr val="B8432A"/>
                </a:solidFill>
                <a:latin typeface="Georgia" pitchFamily="34" charset="0"/>
                <a:ea typeface="Georgia" pitchFamily="34" charset="-122"/>
                <a:cs typeface="Georgia" pitchFamily="34" charset="-120"/>
              </a:rPr>
              <a:t>Lead-3   ·   TextRank   ·   ViT5 dùng checkpoint có sẵn</a:t>
            </a:r>
            <a:endParaRPr lang="en-US" sz="1800" dirty="0"/>
          </a:p>
        </p:txBody>
      </p:sp>
      <p:sp>
        <p:nvSpPr>
          <p:cNvPr id="5" name="Text 3"/>
          <p:cNvSpPr/>
          <p:nvPr/>
        </p:nvSpPr>
        <p:spPr>
          <a:xfrm>
            <a:off x="640080" y="3931920"/>
            <a:ext cx="10058400" cy="3200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Nhóm 14</a:t>
            </a:r>
            <a:endParaRPr lang="en-US" sz="1600" dirty="0"/>
          </a:p>
        </p:txBody>
      </p:sp>
      <p:sp>
        <p:nvSpPr>
          <p:cNvPr id="6" name="Text 4"/>
          <p:cNvSpPr/>
          <p:nvPr/>
        </p:nvSpPr>
        <p:spPr>
          <a:xfrm>
            <a:off x="640080" y="4160520"/>
            <a:ext cx="6583680" cy="105156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Nguyễn Trí Toàn    26410135</a:t>
            </a:r>
            <a:endParaRPr lang="en-US" sz="1600" dirty="0"/>
          </a:p>
          <a:p>
            <a:pPr indent="0" marL="0">
              <a:buNone/>
            </a:pPr>
            <a:r>
              <a:rPr lang="en-US" sz="1600" dirty="0">
                <a:solidFill>
                  <a:srgbClr val="2B2B2B"/>
                </a:solidFill>
                <a:latin typeface="Calibri" pitchFamily="34" charset="0"/>
                <a:ea typeface="Calibri" pitchFamily="34" charset="-122"/>
                <a:cs typeface="Calibri" pitchFamily="34" charset="-120"/>
              </a:rPr>
              <a:t>Nguyễn Văn Thái    26410108</a:t>
            </a:r>
            <a:endParaRPr lang="en-US" sz="1600" dirty="0"/>
          </a:p>
          <a:p>
            <a:pPr indent="0" marL="0">
              <a:buNone/>
            </a:pPr>
            <a:r>
              <a:rPr lang="en-US" sz="1600" dirty="0">
                <a:solidFill>
                  <a:srgbClr val="2B2B2B"/>
                </a:solidFill>
                <a:latin typeface="Calibri" pitchFamily="34" charset="0"/>
                <a:ea typeface="Calibri" pitchFamily="34" charset="-122"/>
                <a:cs typeface="Calibri" pitchFamily="34" charset="-120"/>
              </a:rPr>
              <a:t>Đỗ Quốc Hoàng    26410043</a:t>
            </a:r>
            <a:endParaRPr lang="en-US" sz="1600" dirty="0"/>
          </a:p>
        </p:txBody>
      </p:sp>
      <p:sp>
        <p:nvSpPr>
          <p:cNvPr id="7" name="Shape 5"/>
          <p:cNvSpPr/>
          <p:nvPr/>
        </p:nvSpPr>
        <p:spPr>
          <a:xfrm>
            <a:off x="7452360" y="3977640"/>
            <a:ext cx="4114800" cy="1417320"/>
          </a:xfrm>
          <a:prstGeom prst="rect">
            <a:avLst/>
          </a:prstGeom>
          <a:solidFill>
            <a:srgbClr val="F7F3E8"/>
          </a:solidFill>
          <a:ln w="9525">
            <a:solidFill>
              <a:srgbClr val="C8C0AE"/>
            </a:solidFill>
            <a:prstDash val="solid"/>
          </a:ln>
        </p:spPr>
      </p:sp>
      <p:sp>
        <p:nvSpPr>
          <p:cNvPr id="8" name="Text 6"/>
          <p:cNvSpPr/>
          <p:nvPr/>
        </p:nvSpPr>
        <p:spPr>
          <a:xfrm>
            <a:off x="7635240" y="4133088"/>
            <a:ext cx="3749040" cy="292608"/>
          </a:xfrm>
          <a:prstGeom prst="rect">
            <a:avLst/>
          </a:prstGeom>
          <a:noFill/>
          <a:ln/>
        </p:spPr>
        <p:txBody>
          <a:bodyPr wrap="square" lIns="0" tIns="0" rIns="0" bIns="0" rtlCol="0" anchor="ctr"/>
          <a:lstStyle/>
          <a:p>
            <a:pPr indent="0" marL="0">
              <a:buNone/>
            </a:pPr>
            <a:r>
              <a:rPr lang="en-US" sz="1200" spc="80" kern="0" dirty="0">
                <a:solidFill>
                  <a:srgbClr val="B8432A"/>
                </a:solidFill>
                <a:latin typeface="Calibri" pitchFamily="34" charset="0"/>
                <a:ea typeface="Calibri" pitchFamily="34" charset="-122"/>
                <a:cs typeface="Calibri" pitchFamily="34" charset="-120"/>
              </a:rPr>
              <a:t>GIÁO VIÊN HƯỚNG DẪN</a:t>
            </a:r>
            <a:endParaRPr lang="en-US" sz="1200" dirty="0"/>
          </a:p>
        </p:txBody>
      </p:sp>
      <p:sp>
        <p:nvSpPr>
          <p:cNvPr id="9" name="Text 7"/>
          <p:cNvSpPr/>
          <p:nvPr/>
        </p:nvSpPr>
        <p:spPr>
          <a:xfrm>
            <a:off x="7635240" y="4572000"/>
            <a:ext cx="3749040" cy="457200"/>
          </a:xfrm>
          <a:prstGeom prst="rect">
            <a:avLst/>
          </a:prstGeom>
          <a:noFill/>
          <a:ln/>
        </p:spPr>
        <p:txBody>
          <a:bodyPr wrap="square" lIns="0" tIns="0" rIns="0" bIns="0" rtlCol="0" anchor="ctr"/>
          <a:lstStyle/>
          <a:p>
            <a:pPr indent="0" marL="0">
              <a:buNone/>
            </a:pPr>
            <a:r>
              <a:rPr lang="en-US" sz="2000" dirty="0">
                <a:solidFill>
                  <a:srgbClr val="1A1A1A"/>
                </a:solidFill>
                <a:latin typeface="Georgia" pitchFamily="34" charset="0"/>
                <a:ea typeface="Georgia" pitchFamily="34" charset="-122"/>
                <a:cs typeface="Georgia" pitchFamily="34" charset="-120"/>
              </a:rPr>
              <a:t>TS. Đặng Văn Thìn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02   ĐẶT VẤN ĐỀ</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Vì sao cần tóm tắt</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Bài báo dài. Người đọc cần vài câu đúng ý.</a:t>
            </a:r>
            <a:endParaRPr lang="en-US" sz="2800" dirty="0"/>
          </a:p>
        </p:txBody>
      </p:sp>
      <p:sp>
        <p:nvSpPr>
          <p:cNvPr id="5" name="Shape 3"/>
          <p:cNvSpPr/>
          <p:nvPr/>
        </p:nvSpPr>
        <p:spPr>
          <a:xfrm>
            <a:off x="502920" y="1417320"/>
            <a:ext cx="11155680" cy="1389888"/>
          </a:xfrm>
          <a:prstGeom prst="rect">
            <a:avLst/>
          </a:prstGeom>
          <a:solidFill>
            <a:srgbClr val="F7F3E8"/>
          </a:solidFill>
          <a:ln w="9525">
            <a:solidFill>
              <a:srgbClr val="C8C0AE"/>
            </a:solidFill>
            <a:prstDash val="solid"/>
          </a:ln>
        </p:spPr>
      </p:sp>
      <p:sp>
        <p:nvSpPr>
          <p:cNvPr id="6" name="Text 4"/>
          <p:cNvSpPr/>
          <p:nvPr/>
        </p:nvSpPr>
        <p:spPr>
          <a:xfrm>
            <a:off x="777240" y="1618488"/>
            <a:ext cx="10607040" cy="365760"/>
          </a:xfrm>
          <a:prstGeom prst="rect">
            <a:avLst/>
          </a:prstGeom>
          <a:noFill/>
          <a:ln/>
        </p:spPr>
        <p:txBody>
          <a:bodyPr wrap="square" lIns="0" tIns="0" rIns="0" bIns="0" rtlCol="0" anchor="ctr"/>
          <a:lstStyle/>
          <a:p>
            <a:pPr indent="0" marL="0">
              <a:buNone/>
            </a:pPr>
            <a:r>
              <a:rPr lang="en-US" sz="2000" dirty="0">
                <a:solidFill>
                  <a:srgbClr val="B8432A"/>
                </a:solidFill>
                <a:latin typeface="Calibri" pitchFamily="34" charset="0"/>
                <a:ea typeface="Calibri" pitchFamily="34" charset="-122"/>
                <a:cs typeface="Calibri" pitchFamily="34" charset="-120"/>
              </a:rPr>
              <a:t>Tin tức dài</a:t>
            </a:r>
            <a:endParaRPr lang="en-US" sz="2000" dirty="0"/>
          </a:p>
        </p:txBody>
      </p:sp>
      <p:sp>
        <p:nvSpPr>
          <p:cNvPr id="7" name="Text 5"/>
          <p:cNvSpPr/>
          <p:nvPr/>
        </p:nvSpPr>
        <p:spPr>
          <a:xfrm>
            <a:off x="777240" y="2075688"/>
            <a:ext cx="1060704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Một bài có thể vài trăm từ. Người đọc cần nắm việc chính mà không đọc hết.</a:t>
            </a:r>
            <a:endParaRPr lang="en-US" sz="1800" dirty="0"/>
          </a:p>
        </p:txBody>
      </p:sp>
      <p:sp>
        <p:nvSpPr>
          <p:cNvPr id="8" name="Shape 6"/>
          <p:cNvSpPr/>
          <p:nvPr/>
        </p:nvSpPr>
        <p:spPr>
          <a:xfrm>
            <a:off x="502920" y="2971800"/>
            <a:ext cx="11155680" cy="1389888"/>
          </a:xfrm>
          <a:prstGeom prst="rect">
            <a:avLst/>
          </a:prstGeom>
          <a:solidFill>
            <a:srgbClr val="F7F3E8"/>
          </a:solidFill>
          <a:ln w="9525">
            <a:solidFill>
              <a:srgbClr val="C8C0AE"/>
            </a:solidFill>
            <a:prstDash val="solid"/>
          </a:ln>
        </p:spPr>
      </p:sp>
      <p:sp>
        <p:nvSpPr>
          <p:cNvPr id="9" name="Text 7"/>
          <p:cNvSpPr/>
          <p:nvPr/>
        </p:nvSpPr>
        <p:spPr>
          <a:xfrm>
            <a:off x="777240" y="3172968"/>
            <a:ext cx="10607040" cy="365760"/>
          </a:xfrm>
          <a:prstGeom prst="rect">
            <a:avLst/>
          </a:prstGeom>
          <a:noFill/>
          <a:ln/>
        </p:spPr>
        <p:txBody>
          <a:bodyPr wrap="square" lIns="0" tIns="0" rIns="0" bIns="0" rtlCol="0" anchor="ctr"/>
          <a:lstStyle/>
          <a:p>
            <a:pPr indent="0" marL="0">
              <a:buNone/>
            </a:pPr>
            <a:r>
              <a:rPr lang="en-US" sz="2000" dirty="0">
                <a:solidFill>
                  <a:srgbClr val="B8432A"/>
                </a:solidFill>
                <a:latin typeface="Calibri" pitchFamily="34" charset="0"/>
                <a:ea typeface="Calibri" pitchFamily="34" charset="-122"/>
                <a:cs typeface="Calibri" pitchFamily="34" charset="-120"/>
              </a:rPr>
              <a:t>Bản ngắn hơn</a:t>
            </a:r>
            <a:endParaRPr lang="en-US" sz="2000" dirty="0"/>
          </a:p>
        </p:txBody>
      </p:sp>
      <p:sp>
        <p:nvSpPr>
          <p:cNvPr id="10" name="Text 8"/>
          <p:cNvSpPr/>
          <p:nvPr/>
        </p:nvSpPr>
        <p:spPr>
          <a:xfrm>
            <a:off x="777240" y="3630168"/>
            <a:ext cx="1060704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Hệ đọc thân bài rồi viết lại thành vài câu.</a:t>
            </a:r>
            <a:endParaRPr lang="en-US" sz="1800" dirty="0"/>
          </a:p>
        </p:txBody>
      </p:sp>
      <p:sp>
        <p:nvSpPr>
          <p:cNvPr id="11" name="Shape 9"/>
          <p:cNvSpPr/>
          <p:nvPr/>
        </p:nvSpPr>
        <p:spPr>
          <a:xfrm>
            <a:off x="502920" y="4526280"/>
            <a:ext cx="11155680" cy="1389888"/>
          </a:xfrm>
          <a:prstGeom prst="rect">
            <a:avLst/>
          </a:prstGeom>
          <a:solidFill>
            <a:srgbClr val="F7F3E8"/>
          </a:solidFill>
          <a:ln w="9525">
            <a:solidFill>
              <a:srgbClr val="C8C0AE"/>
            </a:solidFill>
            <a:prstDash val="solid"/>
          </a:ln>
        </p:spPr>
      </p:sp>
      <p:sp>
        <p:nvSpPr>
          <p:cNvPr id="12" name="Text 10"/>
          <p:cNvSpPr/>
          <p:nvPr/>
        </p:nvSpPr>
        <p:spPr>
          <a:xfrm>
            <a:off x="777240" y="4727448"/>
            <a:ext cx="10607040" cy="365760"/>
          </a:xfrm>
          <a:prstGeom prst="rect">
            <a:avLst/>
          </a:prstGeom>
          <a:noFill/>
          <a:ln/>
        </p:spPr>
        <p:txBody>
          <a:bodyPr wrap="square" lIns="0" tIns="0" rIns="0" bIns="0" rtlCol="0" anchor="ctr"/>
          <a:lstStyle/>
          <a:p>
            <a:pPr indent="0" marL="0">
              <a:buNone/>
            </a:pPr>
            <a:r>
              <a:rPr lang="en-US" sz="2000" dirty="0">
                <a:solidFill>
                  <a:srgbClr val="B8432A"/>
                </a:solidFill>
                <a:latin typeface="Calibri" pitchFamily="34" charset="0"/>
                <a:ea typeface="Calibri" pitchFamily="34" charset="-122"/>
                <a:cs typeface="Calibri" pitchFamily="34" charset="-120"/>
              </a:rPr>
              <a:t>Dễ sai</a:t>
            </a:r>
            <a:endParaRPr lang="en-US" sz="2000" dirty="0"/>
          </a:p>
        </p:txBody>
      </p:sp>
      <p:sp>
        <p:nvSpPr>
          <p:cNvPr id="13" name="Text 11"/>
          <p:cNvSpPr/>
          <p:nvPr/>
        </p:nvSpPr>
        <p:spPr>
          <a:xfrm>
            <a:off x="777240" y="5184648"/>
            <a:ext cx="1060704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Bản ngắn có thể bỏ mất ý, hoặc thêm điều bài không nói.</a:t>
            </a:r>
            <a:endParaRPr lang="en-US" sz="1800" dirty="0"/>
          </a:p>
        </p:txBody>
      </p:sp>
      <p:sp>
        <p:nvSpPr>
          <p:cNvPr id="14" name="Text 12"/>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5" name="Text 13"/>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03   MỤC TIÊU</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Câu hỏi của đồ án</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Ba cách, cùng một tập test</a:t>
            </a:r>
            <a:endParaRPr lang="en-US" sz="2800" dirty="0"/>
          </a:p>
        </p:txBody>
      </p:sp>
      <p:sp>
        <p:nvSpPr>
          <p:cNvPr id="5" name="Shape 3"/>
          <p:cNvSpPr/>
          <p:nvPr/>
        </p:nvSpPr>
        <p:spPr>
          <a:xfrm>
            <a:off x="502920" y="1371600"/>
            <a:ext cx="11155680" cy="1965960"/>
          </a:xfrm>
          <a:prstGeom prst="rect">
            <a:avLst/>
          </a:prstGeom>
          <a:solidFill>
            <a:srgbClr val="F2E5D0"/>
          </a:solidFill>
          <a:ln w="9525">
            <a:solidFill>
              <a:srgbClr val="C8C0AE"/>
            </a:solidFill>
            <a:prstDash val="solid"/>
          </a:ln>
        </p:spPr>
      </p:sp>
      <p:sp>
        <p:nvSpPr>
          <p:cNvPr id="6" name="Text 4"/>
          <p:cNvSpPr/>
          <p:nvPr/>
        </p:nvSpPr>
        <p:spPr>
          <a:xfrm>
            <a:off x="777240" y="1600200"/>
            <a:ext cx="10607040" cy="1508760"/>
          </a:xfrm>
          <a:prstGeom prst="rect">
            <a:avLst/>
          </a:prstGeom>
          <a:noFill/>
          <a:ln/>
        </p:spPr>
        <p:txBody>
          <a:bodyPr wrap="square" lIns="0" tIns="0" rIns="0" bIns="0" rtlCol="0" anchor="ctr"/>
          <a:lstStyle/>
          <a:p>
            <a:pPr indent="0" marL="0">
              <a:buNone/>
            </a:pPr>
            <a:r>
              <a:rPr lang="en-US" sz="2400" dirty="0">
                <a:solidFill>
                  <a:srgbClr val="1A1A1A"/>
                </a:solidFill>
                <a:latin typeface="Georgia" pitchFamily="34" charset="0"/>
                <a:ea typeface="Georgia" pitchFamily="34" charset="-122"/>
                <a:cs typeface="Georgia" pitchFamily="34" charset="-120"/>
              </a:rPr>
              <a:t>Trên cùng tập test, Lead-3, TextRank và ViT5 khác nhau thế nào về ROUGE, và khi đọc tay thì mỗi hệ sai kiểu gì?</a:t>
            </a:r>
            <a:endParaRPr lang="en-US" sz="2400" dirty="0"/>
          </a:p>
        </p:txBody>
      </p:sp>
      <p:sp>
        <p:nvSpPr>
          <p:cNvPr id="7" name="Shape 5"/>
          <p:cNvSpPr/>
          <p:nvPr/>
        </p:nvSpPr>
        <p:spPr>
          <a:xfrm>
            <a:off x="502920" y="3566160"/>
            <a:ext cx="5577840" cy="2468880"/>
          </a:xfrm>
          <a:prstGeom prst="rect">
            <a:avLst/>
          </a:prstGeom>
          <a:solidFill>
            <a:srgbClr val="F7F3E8"/>
          </a:solidFill>
          <a:ln w="9525">
            <a:solidFill>
              <a:srgbClr val="C8C0AE"/>
            </a:solidFill>
            <a:prstDash val="solid"/>
          </a:ln>
        </p:spPr>
      </p:sp>
      <p:sp>
        <p:nvSpPr>
          <p:cNvPr id="8" name="Text 6"/>
          <p:cNvSpPr/>
          <p:nvPr/>
        </p:nvSpPr>
        <p:spPr>
          <a:xfrm>
            <a:off x="777240" y="3749040"/>
            <a:ext cx="502920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Nhóm làm</a:t>
            </a:r>
            <a:endParaRPr lang="en-US" sz="1600" dirty="0"/>
          </a:p>
        </p:txBody>
      </p:sp>
      <p:sp>
        <p:nvSpPr>
          <p:cNvPr id="9" name="Text 7"/>
          <p:cNvSpPr/>
          <p:nvPr/>
        </p:nvSpPr>
        <p:spPr>
          <a:xfrm>
            <a:off x="777240" y="4251960"/>
            <a:ext cx="5029200" cy="14630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Chạy ba cách trên Vietnews, chấm ROUGE, rồi đọc vài bài để xem sai chỗ nào.</a:t>
            </a:r>
            <a:endParaRPr lang="en-US" sz="1800" dirty="0"/>
          </a:p>
        </p:txBody>
      </p:sp>
      <p:sp>
        <p:nvSpPr>
          <p:cNvPr id="10" name="Shape 8"/>
          <p:cNvSpPr/>
          <p:nvPr/>
        </p:nvSpPr>
        <p:spPr>
          <a:xfrm>
            <a:off x="6309360" y="3566160"/>
            <a:ext cx="5577840" cy="2468880"/>
          </a:xfrm>
          <a:prstGeom prst="rect">
            <a:avLst/>
          </a:prstGeom>
          <a:solidFill>
            <a:srgbClr val="F7F3E8"/>
          </a:solidFill>
          <a:ln w="9525">
            <a:solidFill>
              <a:srgbClr val="C8C0AE"/>
            </a:solidFill>
            <a:prstDash val="solid"/>
          </a:ln>
        </p:spPr>
      </p:sp>
      <p:sp>
        <p:nvSpPr>
          <p:cNvPr id="11" name="Text 9"/>
          <p:cNvSpPr/>
          <p:nvPr/>
        </p:nvSpPr>
        <p:spPr>
          <a:xfrm>
            <a:off x="6583680" y="3749040"/>
            <a:ext cx="502920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Giới hạn</a:t>
            </a:r>
            <a:endParaRPr lang="en-US" sz="1600" dirty="0"/>
          </a:p>
        </p:txBody>
      </p:sp>
      <p:sp>
        <p:nvSpPr>
          <p:cNvPr id="12" name="Text 10"/>
          <p:cNvSpPr/>
          <p:nvPr/>
        </p:nvSpPr>
        <p:spPr>
          <a:xfrm>
            <a:off x="6583680" y="4251960"/>
            <a:ext cx="5029200" cy="14630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Mỗi lần tóm một bài. Bài giảng có phần gom nhiều bài. Đồ án này chỉ làm từng bài.</a:t>
            </a:r>
            <a:endParaRPr lang="en-US" sz="1800" dirty="0"/>
          </a:p>
        </p:txBody>
      </p:sp>
      <p:sp>
        <p:nvSpPr>
          <p:cNvPr id="13" name="Text 11"/>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4" name="Text 12"/>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04   BÀI TOÁN</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Đầu vào và đầu ra</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Một bài vào. Một bản tóm tắt ra.</a:t>
            </a:r>
            <a:endParaRPr lang="en-US" sz="2800" dirty="0"/>
          </a:p>
        </p:txBody>
      </p:sp>
      <p:sp>
        <p:nvSpPr>
          <p:cNvPr id="5" name="Shape 3"/>
          <p:cNvSpPr/>
          <p:nvPr/>
        </p:nvSpPr>
        <p:spPr>
          <a:xfrm>
            <a:off x="502920" y="1417320"/>
            <a:ext cx="3611880" cy="4617720"/>
          </a:xfrm>
          <a:prstGeom prst="rect">
            <a:avLst/>
          </a:prstGeom>
          <a:solidFill>
            <a:srgbClr val="F7F3E8"/>
          </a:solidFill>
          <a:ln w="9525">
            <a:solidFill>
              <a:srgbClr val="C8C0AE"/>
            </a:solidFill>
            <a:prstDash val="solid"/>
          </a:ln>
        </p:spPr>
      </p:sp>
      <p:sp>
        <p:nvSpPr>
          <p:cNvPr id="6" name="Text 4"/>
          <p:cNvSpPr/>
          <p:nvPr/>
        </p:nvSpPr>
        <p:spPr>
          <a:xfrm>
            <a:off x="731520" y="1645920"/>
            <a:ext cx="3154680" cy="320040"/>
          </a:xfrm>
          <a:prstGeom prst="rect">
            <a:avLst/>
          </a:prstGeom>
          <a:noFill/>
          <a:ln/>
        </p:spPr>
        <p:txBody>
          <a:bodyPr wrap="square" lIns="0" tIns="0" rIns="0" bIns="0" rtlCol="0" anchor="ctr"/>
          <a:lstStyle/>
          <a:p>
            <a:pPr indent="0" marL="0">
              <a:buNone/>
            </a:pPr>
            <a:r>
              <a:rPr lang="en-US" sz="1400" dirty="0">
                <a:solidFill>
                  <a:srgbClr val="B8432A"/>
                </a:solidFill>
                <a:latin typeface="Calibri" pitchFamily="34" charset="0"/>
                <a:ea typeface="Calibri" pitchFamily="34" charset="-122"/>
                <a:cs typeface="Calibri" pitchFamily="34" charset="-120"/>
              </a:rPr>
              <a:t>Đầu vào</a:t>
            </a:r>
            <a:endParaRPr lang="en-US" sz="1400" dirty="0"/>
          </a:p>
        </p:txBody>
      </p:sp>
      <p:sp>
        <p:nvSpPr>
          <p:cNvPr id="7" name="Text 5"/>
          <p:cNvSpPr/>
          <p:nvPr/>
        </p:nvSpPr>
        <p:spPr>
          <a:xfrm>
            <a:off x="731520" y="2103120"/>
            <a:ext cx="3154680" cy="1234440"/>
          </a:xfrm>
          <a:prstGeom prst="rect">
            <a:avLst/>
          </a:prstGeom>
          <a:noFill/>
          <a:ln/>
        </p:spPr>
        <p:txBody>
          <a:bodyPr wrap="square" lIns="0" tIns="0" rIns="0" bIns="0" rtlCol="0" anchor="ctr"/>
          <a:lstStyle/>
          <a:p>
            <a:pPr indent="0" marL="0">
              <a:buNone/>
            </a:pPr>
            <a:r>
              <a:rPr lang="en-US" sz="2600" dirty="0">
                <a:solidFill>
                  <a:srgbClr val="1A1A1A"/>
                </a:solidFill>
                <a:latin typeface="Georgia" pitchFamily="34" charset="0"/>
                <a:ea typeface="Georgia" pitchFamily="34" charset="-122"/>
                <a:cs typeface="Georgia" pitchFamily="34" charset="-120"/>
              </a:rPr>
              <a:t>Thân bài tiếng Việt</a:t>
            </a:r>
            <a:endParaRPr lang="en-US" sz="2600" dirty="0"/>
          </a:p>
        </p:txBody>
      </p:sp>
      <p:sp>
        <p:nvSpPr>
          <p:cNvPr id="8" name="Text 6"/>
          <p:cNvSpPr/>
          <p:nvPr/>
        </p:nvSpPr>
        <p:spPr>
          <a:xfrm>
            <a:off x="731520" y="3566160"/>
            <a:ext cx="315468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Hệ chỉ đọc phần thân. Tiêu đề dùng để biết đó là bài nào.</a:t>
            </a:r>
            <a:endParaRPr lang="en-US" sz="1600" dirty="0"/>
          </a:p>
        </p:txBody>
      </p:sp>
      <p:sp>
        <p:nvSpPr>
          <p:cNvPr id="9" name="Shape 7"/>
          <p:cNvSpPr/>
          <p:nvPr/>
        </p:nvSpPr>
        <p:spPr>
          <a:xfrm>
            <a:off x="4343400" y="1417320"/>
            <a:ext cx="3611880" cy="4617720"/>
          </a:xfrm>
          <a:prstGeom prst="rect">
            <a:avLst/>
          </a:prstGeom>
          <a:solidFill>
            <a:srgbClr val="F7F3E8"/>
          </a:solidFill>
          <a:ln w="9525">
            <a:solidFill>
              <a:srgbClr val="C8C0AE"/>
            </a:solidFill>
            <a:prstDash val="solid"/>
          </a:ln>
        </p:spPr>
      </p:sp>
      <p:sp>
        <p:nvSpPr>
          <p:cNvPr id="10" name="Text 8"/>
          <p:cNvSpPr/>
          <p:nvPr/>
        </p:nvSpPr>
        <p:spPr>
          <a:xfrm>
            <a:off x="4572000" y="1645920"/>
            <a:ext cx="3154680" cy="320040"/>
          </a:xfrm>
          <a:prstGeom prst="rect">
            <a:avLst/>
          </a:prstGeom>
          <a:noFill/>
          <a:ln/>
        </p:spPr>
        <p:txBody>
          <a:bodyPr wrap="square" lIns="0" tIns="0" rIns="0" bIns="0" rtlCol="0" anchor="ctr"/>
          <a:lstStyle/>
          <a:p>
            <a:pPr indent="0" marL="0">
              <a:buNone/>
            </a:pPr>
            <a:r>
              <a:rPr lang="en-US" sz="1400" dirty="0">
                <a:solidFill>
                  <a:srgbClr val="B8432A"/>
                </a:solidFill>
                <a:latin typeface="Calibri" pitchFamily="34" charset="0"/>
                <a:ea typeface="Calibri" pitchFamily="34" charset="-122"/>
                <a:cs typeface="Calibri" pitchFamily="34" charset="-120"/>
              </a:rPr>
              <a:t>Đầu ra</a:t>
            </a:r>
            <a:endParaRPr lang="en-US" sz="1400" dirty="0"/>
          </a:p>
        </p:txBody>
      </p:sp>
      <p:sp>
        <p:nvSpPr>
          <p:cNvPr id="11" name="Text 9"/>
          <p:cNvSpPr/>
          <p:nvPr/>
        </p:nvSpPr>
        <p:spPr>
          <a:xfrm>
            <a:off x="4572000" y="2103120"/>
            <a:ext cx="3154680" cy="1234440"/>
          </a:xfrm>
          <a:prstGeom prst="rect">
            <a:avLst/>
          </a:prstGeom>
          <a:noFill/>
          <a:ln/>
        </p:spPr>
        <p:txBody>
          <a:bodyPr wrap="square" lIns="0" tIns="0" rIns="0" bIns="0" rtlCol="0" anchor="ctr"/>
          <a:lstStyle/>
          <a:p>
            <a:pPr indent="0" marL="0">
              <a:buNone/>
            </a:pPr>
            <a:r>
              <a:rPr lang="en-US" sz="2600" dirty="0">
                <a:solidFill>
                  <a:srgbClr val="1A1A1A"/>
                </a:solidFill>
                <a:latin typeface="Georgia" pitchFamily="34" charset="0"/>
                <a:ea typeface="Georgia" pitchFamily="34" charset="-122"/>
                <a:cs typeface="Georgia" pitchFamily="34" charset="-120"/>
              </a:rPr>
              <a:t>Bản tóm tắt ngắn</a:t>
            </a:r>
            <a:endParaRPr lang="en-US" sz="2600" dirty="0"/>
          </a:p>
        </p:txBody>
      </p:sp>
      <p:sp>
        <p:nvSpPr>
          <p:cNvPr id="12" name="Text 10"/>
          <p:cNvSpPr/>
          <p:nvPr/>
        </p:nvSpPr>
        <p:spPr>
          <a:xfrm>
            <a:off x="4572000" y="3566160"/>
            <a:ext cx="315468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Lead-3 và TextRank lấy câu có sẵn. ViT5 viết câu mới.</a:t>
            </a:r>
            <a:endParaRPr lang="en-US" sz="1600" dirty="0"/>
          </a:p>
        </p:txBody>
      </p:sp>
      <p:sp>
        <p:nvSpPr>
          <p:cNvPr id="13" name="Shape 11"/>
          <p:cNvSpPr/>
          <p:nvPr/>
        </p:nvSpPr>
        <p:spPr>
          <a:xfrm>
            <a:off x="8183880" y="1417320"/>
            <a:ext cx="3611880" cy="4617720"/>
          </a:xfrm>
          <a:prstGeom prst="rect">
            <a:avLst/>
          </a:prstGeom>
          <a:solidFill>
            <a:srgbClr val="F2E5D0"/>
          </a:solidFill>
          <a:ln w="9525">
            <a:solidFill>
              <a:srgbClr val="C8C0AE"/>
            </a:solidFill>
            <a:prstDash val="solid"/>
          </a:ln>
        </p:spPr>
      </p:sp>
      <p:sp>
        <p:nvSpPr>
          <p:cNvPr id="14" name="Text 12"/>
          <p:cNvSpPr/>
          <p:nvPr/>
        </p:nvSpPr>
        <p:spPr>
          <a:xfrm>
            <a:off x="8412480" y="1645920"/>
            <a:ext cx="3154680" cy="320040"/>
          </a:xfrm>
          <a:prstGeom prst="rect">
            <a:avLst/>
          </a:prstGeom>
          <a:noFill/>
          <a:ln/>
        </p:spPr>
        <p:txBody>
          <a:bodyPr wrap="square" lIns="0" tIns="0" rIns="0" bIns="0" rtlCol="0" anchor="ctr"/>
          <a:lstStyle/>
          <a:p>
            <a:pPr indent="0" marL="0">
              <a:buNone/>
            </a:pPr>
            <a:r>
              <a:rPr lang="en-US" sz="1400" dirty="0">
                <a:solidFill>
                  <a:srgbClr val="B8432A"/>
                </a:solidFill>
                <a:latin typeface="Calibri" pitchFamily="34" charset="0"/>
                <a:ea typeface="Calibri" pitchFamily="34" charset="-122"/>
                <a:cs typeface="Calibri" pitchFamily="34" charset="-120"/>
              </a:rPr>
              <a:t>Để chấm</a:t>
            </a:r>
            <a:endParaRPr lang="en-US" sz="1400" dirty="0"/>
          </a:p>
        </p:txBody>
      </p:sp>
      <p:sp>
        <p:nvSpPr>
          <p:cNvPr id="15" name="Text 13"/>
          <p:cNvSpPr/>
          <p:nvPr/>
        </p:nvSpPr>
        <p:spPr>
          <a:xfrm>
            <a:off x="8412480" y="2103120"/>
            <a:ext cx="3154680" cy="1234440"/>
          </a:xfrm>
          <a:prstGeom prst="rect">
            <a:avLst/>
          </a:prstGeom>
          <a:noFill/>
          <a:ln/>
        </p:spPr>
        <p:txBody>
          <a:bodyPr wrap="square" lIns="0" tIns="0" rIns="0" bIns="0" rtlCol="0" anchor="ctr"/>
          <a:lstStyle/>
          <a:p>
            <a:pPr indent="0" marL="0">
              <a:buNone/>
            </a:pPr>
            <a:r>
              <a:rPr lang="en-US" sz="2600" dirty="0">
                <a:solidFill>
                  <a:srgbClr val="1A1A1A"/>
                </a:solidFill>
                <a:latin typeface="Georgia" pitchFamily="34" charset="0"/>
                <a:ea typeface="Georgia" pitchFamily="34" charset="-122"/>
                <a:cs typeface="Georgia" pitchFamily="34" charset="-120"/>
              </a:rPr>
              <a:t>Sapo của bài</a:t>
            </a:r>
            <a:endParaRPr lang="en-US" sz="2600" dirty="0"/>
          </a:p>
        </p:txBody>
      </p:sp>
      <p:sp>
        <p:nvSpPr>
          <p:cNvPr id="16" name="Text 14"/>
          <p:cNvSpPr/>
          <p:nvPr/>
        </p:nvSpPr>
        <p:spPr>
          <a:xfrm>
            <a:off x="8412480" y="3566160"/>
            <a:ext cx="315468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Sapo là bản mẫu khi tính ROUGE. ViT5 không được đọc sapo.</a:t>
            </a:r>
            <a:endParaRPr lang="en-US" sz="1600" dirty="0"/>
          </a:p>
        </p:txBody>
      </p:sp>
      <p:sp>
        <p:nvSpPr>
          <p:cNvPr id="17" name="Text 15"/>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8" name="Text 16"/>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05   HAI CÁCH</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Một bài trong tập test</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Lấy câu sẵn, hoặc viết câu mới</a:t>
            </a:r>
            <a:endParaRPr lang="en-US" sz="2800" dirty="0"/>
          </a:p>
        </p:txBody>
      </p:sp>
      <p:sp>
        <p:nvSpPr>
          <p:cNvPr id="5" name="Shape 3"/>
          <p:cNvSpPr/>
          <p:nvPr/>
        </p:nvSpPr>
        <p:spPr>
          <a:xfrm>
            <a:off x="502920" y="1325880"/>
            <a:ext cx="5486400" cy="2331720"/>
          </a:xfrm>
          <a:prstGeom prst="rect">
            <a:avLst/>
          </a:prstGeom>
          <a:solidFill>
            <a:srgbClr val="F7F3E8"/>
          </a:solidFill>
          <a:ln w="9525">
            <a:solidFill>
              <a:srgbClr val="C8C0AE"/>
            </a:solidFill>
            <a:prstDash val="solid"/>
          </a:ln>
        </p:spPr>
      </p:sp>
      <p:sp>
        <p:nvSpPr>
          <p:cNvPr id="6" name="Shape 4"/>
          <p:cNvSpPr/>
          <p:nvPr/>
        </p:nvSpPr>
        <p:spPr>
          <a:xfrm>
            <a:off x="6217920" y="1325880"/>
            <a:ext cx="5486400" cy="2331720"/>
          </a:xfrm>
          <a:prstGeom prst="rect">
            <a:avLst/>
          </a:prstGeom>
          <a:solidFill>
            <a:srgbClr val="F2E5D0"/>
          </a:solidFill>
          <a:ln w="9525">
            <a:solidFill>
              <a:srgbClr val="C8C0AE"/>
            </a:solidFill>
            <a:prstDash val="solid"/>
          </a:ln>
        </p:spPr>
      </p:sp>
      <p:sp>
        <p:nvSpPr>
          <p:cNvPr id="7" name="Text 5"/>
          <p:cNvSpPr/>
          <p:nvPr/>
        </p:nvSpPr>
        <p:spPr>
          <a:xfrm>
            <a:off x="731520" y="1463040"/>
            <a:ext cx="5029200" cy="32004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Rút trích</a:t>
            </a:r>
            <a:endParaRPr lang="en-US" sz="1600" dirty="0"/>
          </a:p>
        </p:txBody>
      </p:sp>
      <p:sp>
        <p:nvSpPr>
          <p:cNvPr id="8" name="Text 6"/>
          <p:cNvSpPr/>
          <p:nvPr/>
        </p:nvSpPr>
        <p:spPr>
          <a:xfrm>
            <a:off x="731520" y="1920240"/>
            <a:ext cx="5029200" cy="14173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Giữ nguyên câu trong bài. Ít bịa chữ. Có thể cụt hoặc lệch sapo.</a:t>
            </a:r>
            <a:endParaRPr lang="en-US" sz="1800" dirty="0"/>
          </a:p>
        </p:txBody>
      </p:sp>
      <p:sp>
        <p:nvSpPr>
          <p:cNvPr id="9" name="Text 7"/>
          <p:cNvSpPr/>
          <p:nvPr/>
        </p:nvSpPr>
        <p:spPr>
          <a:xfrm>
            <a:off x="6446520" y="1463040"/>
            <a:ext cx="5029200" cy="32004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Tóm lược</a:t>
            </a:r>
            <a:endParaRPr lang="en-US" sz="1600" dirty="0"/>
          </a:p>
        </p:txBody>
      </p:sp>
      <p:sp>
        <p:nvSpPr>
          <p:cNvPr id="10" name="Text 8"/>
          <p:cNvSpPr/>
          <p:nvPr/>
        </p:nvSpPr>
        <p:spPr>
          <a:xfrm>
            <a:off x="6446520" y="1920240"/>
            <a:ext cx="5029200" cy="14173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Viết câu mới. Đọc có thể mượt hơn. Có thể sai tên, sai số, đảo người làm việc.</a:t>
            </a:r>
            <a:endParaRPr lang="en-US" sz="1800" dirty="0"/>
          </a:p>
        </p:txBody>
      </p:sp>
      <p:sp>
        <p:nvSpPr>
          <p:cNvPr id="11" name="Shape 9"/>
          <p:cNvSpPr/>
          <p:nvPr/>
        </p:nvSpPr>
        <p:spPr>
          <a:xfrm>
            <a:off x="502920" y="3840480"/>
            <a:ext cx="11201400" cy="2240280"/>
          </a:xfrm>
          <a:prstGeom prst="rect">
            <a:avLst/>
          </a:prstGeom>
          <a:solidFill>
            <a:srgbClr val="F7F3E8"/>
          </a:solidFill>
          <a:ln w="9525">
            <a:solidFill>
              <a:srgbClr val="C8C0AE"/>
            </a:solidFill>
            <a:prstDash val="solid"/>
          </a:ln>
        </p:spPr>
      </p:sp>
      <p:sp>
        <p:nvSpPr>
          <p:cNvPr id="12" name="Text 10"/>
          <p:cNvSpPr/>
          <p:nvPr/>
        </p:nvSpPr>
        <p:spPr>
          <a:xfrm>
            <a:off x="731520" y="4005072"/>
            <a:ext cx="10698480" cy="292608"/>
          </a:xfrm>
          <a:prstGeom prst="rect">
            <a:avLst/>
          </a:prstGeom>
          <a:noFill/>
          <a:ln/>
        </p:spPr>
        <p:txBody>
          <a:bodyPr wrap="square" lIns="0" tIns="0" rIns="0" bIns="0" rtlCol="0" anchor="ctr"/>
          <a:lstStyle/>
          <a:p>
            <a:pPr indent="0" marL="0">
              <a:buNone/>
            </a:pPr>
            <a:r>
              <a:rPr lang="en-US" sz="1400" dirty="0">
                <a:solidFill>
                  <a:srgbClr val="B8432A"/>
                </a:solidFill>
                <a:latin typeface="Calibri" pitchFamily="34" charset="0"/>
                <a:ea typeface="Calibri" pitchFamily="34" charset="-122"/>
                <a:cs typeface="Calibri" pitchFamily="34" charset="-120"/>
              </a:rPr>
              <a:t>Bài 000011 trong tập test</a:t>
            </a:r>
            <a:endParaRPr lang="en-US" sz="1400" dirty="0"/>
          </a:p>
        </p:txBody>
      </p:sp>
      <p:sp>
        <p:nvSpPr>
          <p:cNvPr id="13" name="Text 11"/>
          <p:cNvSpPr/>
          <p:nvPr/>
        </p:nvSpPr>
        <p:spPr>
          <a:xfrm>
            <a:off x="731520" y="4434840"/>
            <a:ext cx="10698480" cy="132588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Bài 000011 kể việc thuê xe chở máy ủi. Rút trích giữ nguyên câu ấy. ViT5 đổi thành trộm xe bồn.</a:t>
            </a:r>
            <a:endParaRPr lang="en-US" sz="1800" dirty="0"/>
          </a:p>
        </p:txBody>
      </p:sp>
      <p:sp>
        <p:nvSpPr>
          <p:cNvPr id="14" name="Text 12"/>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5" name="Text 13"/>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06   CÔNG TRÌNH</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Và dữ liệu</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Dùng Vietnews và checkpoint ViT5 đã công bố</a:t>
            </a:r>
            <a:endParaRPr lang="en-US" sz="2800" dirty="0"/>
          </a:p>
        </p:txBody>
      </p:sp>
      <p:sp>
        <p:nvSpPr>
          <p:cNvPr id="5" name="Shape 3"/>
          <p:cNvSpPr/>
          <p:nvPr/>
        </p:nvSpPr>
        <p:spPr>
          <a:xfrm>
            <a:off x="502920" y="1371600"/>
            <a:ext cx="11155680" cy="1051560"/>
          </a:xfrm>
          <a:prstGeom prst="rect">
            <a:avLst/>
          </a:prstGeom>
          <a:solidFill>
            <a:srgbClr val="F7F3E8"/>
          </a:solidFill>
          <a:ln w="9525">
            <a:solidFill>
              <a:srgbClr val="C8C0AE"/>
            </a:solidFill>
            <a:prstDash val="solid"/>
          </a:ln>
        </p:spPr>
      </p:sp>
      <p:sp>
        <p:nvSpPr>
          <p:cNvPr id="6" name="Text 4"/>
          <p:cNvSpPr/>
          <p:nvPr/>
        </p:nvSpPr>
        <p:spPr>
          <a:xfrm>
            <a:off x="731520" y="1664208"/>
            <a:ext cx="22860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Dữ liệu</a:t>
            </a:r>
            <a:endParaRPr lang="en-US" sz="1800" dirty="0"/>
          </a:p>
        </p:txBody>
      </p:sp>
      <p:sp>
        <p:nvSpPr>
          <p:cNvPr id="7" name="Text 5"/>
          <p:cNvSpPr/>
          <p:nvPr/>
        </p:nvSpPr>
        <p:spPr>
          <a:xfrm>
            <a:off x="3108960" y="1664208"/>
            <a:ext cx="82296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github.com/ThanhChinhBK/vietnews</a:t>
            </a:r>
            <a:endParaRPr lang="en-US" sz="1800" dirty="0"/>
          </a:p>
        </p:txBody>
      </p:sp>
      <p:sp>
        <p:nvSpPr>
          <p:cNvPr id="8" name="Shape 6"/>
          <p:cNvSpPr/>
          <p:nvPr/>
        </p:nvSpPr>
        <p:spPr>
          <a:xfrm>
            <a:off x="502920" y="2560320"/>
            <a:ext cx="11155680" cy="1051560"/>
          </a:xfrm>
          <a:prstGeom prst="rect">
            <a:avLst/>
          </a:prstGeom>
          <a:solidFill>
            <a:srgbClr val="F7F3E8"/>
          </a:solidFill>
          <a:ln w="9525">
            <a:solidFill>
              <a:srgbClr val="C8C0AE"/>
            </a:solidFill>
            <a:prstDash val="solid"/>
          </a:ln>
        </p:spPr>
      </p:sp>
      <p:sp>
        <p:nvSpPr>
          <p:cNvPr id="9" name="Text 7"/>
          <p:cNvSpPr/>
          <p:nvPr/>
        </p:nvSpPr>
        <p:spPr>
          <a:xfrm>
            <a:off x="731520" y="2852928"/>
            <a:ext cx="22860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Model</a:t>
            </a:r>
            <a:endParaRPr lang="en-US" sz="1800" dirty="0"/>
          </a:p>
        </p:txBody>
      </p:sp>
      <p:sp>
        <p:nvSpPr>
          <p:cNvPr id="10" name="Text 8"/>
          <p:cNvSpPr/>
          <p:nvPr/>
        </p:nvSpPr>
        <p:spPr>
          <a:xfrm>
            <a:off x="3108960" y="2852928"/>
            <a:ext cx="82296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VietAI/vit5-base-vietnews-summarization, bài NAACL 2022</a:t>
            </a:r>
            <a:endParaRPr lang="en-US" sz="1800" dirty="0"/>
          </a:p>
        </p:txBody>
      </p:sp>
      <p:sp>
        <p:nvSpPr>
          <p:cNvPr id="11" name="Shape 9"/>
          <p:cNvSpPr/>
          <p:nvPr/>
        </p:nvSpPr>
        <p:spPr>
          <a:xfrm>
            <a:off x="502920" y="3749040"/>
            <a:ext cx="11155680" cy="1051560"/>
          </a:xfrm>
          <a:prstGeom prst="rect">
            <a:avLst/>
          </a:prstGeom>
          <a:solidFill>
            <a:srgbClr val="F7F3E8"/>
          </a:solidFill>
          <a:ln w="9525">
            <a:solidFill>
              <a:srgbClr val="C8C0AE"/>
            </a:solidFill>
            <a:prstDash val="solid"/>
          </a:ln>
        </p:spPr>
      </p:sp>
      <p:sp>
        <p:nvSpPr>
          <p:cNvPr id="12" name="Text 10"/>
          <p:cNvSpPr/>
          <p:nvPr/>
        </p:nvSpPr>
        <p:spPr>
          <a:xfrm>
            <a:off x="731520" y="4041648"/>
            <a:ext cx="22860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Phần dùng</a:t>
            </a:r>
            <a:endParaRPr lang="en-US" sz="1800" dirty="0"/>
          </a:p>
        </p:txBody>
      </p:sp>
      <p:sp>
        <p:nvSpPr>
          <p:cNvPr id="13" name="Text 11"/>
          <p:cNvSpPr/>
          <p:nvPr/>
        </p:nvSpPr>
        <p:spPr>
          <a:xfrm>
            <a:off x="3108960" y="4041648"/>
            <a:ext cx="82296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Tập test, các file đã tách từ bằng dấu gạch dưới</a:t>
            </a:r>
            <a:endParaRPr lang="en-US" sz="1800" dirty="0"/>
          </a:p>
        </p:txBody>
      </p:sp>
      <p:sp>
        <p:nvSpPr>
          <p:cNvPr id="14" name="Shape 12"/>
          <p:cNvSpPr/>
          <p:nvPr/>
        </p:nvSpPr>
        <p:spPr>
          <a:xfrm>
            <a:off x="502920" y="4937760"/>
            <a:ext cx="11155680" cy="1051560"/>
          </a:xfrm>
          <a:prstGeom prst="rect">
            <a:avLst/>
          </a:prstGeom>
          <a:solidFill>
            <a:srgbClr val="F7F3E8"/>
          </a:solidFill>
          <a:ln w="9525">
            <a:solidFill>
              <a:srgbClr val="C8C0AE"/>
            </a:solidFill>
            <a:prstDash val="solid"/>
          </a:ln>
        </p:spPr>
      </p:sp>
      <p:sp>
        <p:nvSpPr>
          <p:cNvPr id="15" name="Text 13"/>
          <p:cNvSpPr/>
          <p:nvPr/>
        </p:nvSpPr>
        <p:spPr>
          <a:xfrm>
            <a:off x="731520" y="5230368"/>
            <a:ext cx="22860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Số bài</a:t>
            </a:r>
            <a:endParaRPr lang="en-US" sz="1800" dirty="0"/>
          </a:p>
        </p:txBody>
      </p:sp>
      <p:sp>
        <p:nvSpPr>
          <p:cNvPr id="16" name="Text 14"/>
          <p:cNvSpPr/>
          <p:nvPr/>
        </p:nvSpPr>
        <p:spPr>
          <a:xfrm>
            <a:off x="3108960" y="5230368"/>
            <a:ext cx="82296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Làm thử 100 bài đầu. Số báo cáo là 500 bài đầu, lấy theo tên file.</a:t>
            </a:r>
            <a:endParaRPr lang="en-US" sz="1800" dirty="0"/>
          </a:p>
        </p:txBody>
      </p:sp>
      <p:sp>
        <p:nvSpPr>
          <p:cNvPr id="17" name="Text 15"/>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8" name="Text 16"/>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07   CÁCH CHẠY</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Bốn bước</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Từ file bài báo đến điểm ROUGE</a:t>
            </a:r>
            <a:endParaRPr lang="en-US" sz="2800" dirty="0"/>
          </a:p>
        </p:txBody>
      </p:sp>
      <p:sp>
        <p:nvSpPr>
          <p:cNvPr id="5" name="Shape 3"/>
          <p:cNvSpPr/>
          <p:nvPr/>
        </p:nvSpPr>
        <p:spPr>
          <a:xfrm>
            <a:off x="502920" y="1463040"/>
            <a:ext cx="2743200" cy="4526280"/>
          </a:xfrm>
          <a:prstGeom prst="rect">
            <a:avLst/>
          </a:prstGeom>
          <a:solidFill>
            <a:srgbClr val="F7F3E8"/>
          </a:solidFill>
          <a:ln w="9525">
            <a:solidFill>
              <a:srgbClr val="C8C0AE"/>
            </a:solidFill>
            <a:prstDash val="solid"/>
          </a:ln>
        </p:spPr>
      </p:sp>
      <p:sp>
        <p:nvSpPr>
          <p:cNvPr id="6" name="Text 4"/>
          <p:cNvSpPr/>
          <p:nvPr/>
        </p:nvSpPr>
        <p:spPr>
          <a:xfrm>
            <a:off x="685800" y="1691640"/>
            <a:ext cx="2377440" cy="640080"/>
          </a:xfrm>
          <a:prstGeom prst="rect">
            <a:avLst/>
          </a:prstGeom>
          <a:noFill/>
          <a:ln/>
        </p:spPr>
        <p:txBody>
          <a:bodyPr wrap="square" lIns="0" tIns="0" rIns="0" bIns="0" rtlCol="0" anchor="ctr"/>
          <a:lstStyle/>
          <a:p>
            <a:pPr indent="0" marL="0">
              <a:buNone/>
            </a:pPr>
            <a:r>
              <a:rPr lang="en-US" sz="3200" dirty="0">
                <a:solidFill>
                  <a:srgbClr val="B8432A"/>
                </a:solidFill>
                <a:latin typeface="Georgia" pitchFamily="34" charset="0"/>
                <a:ea typeface="Georgia" pitchFamily="34" charset="-122"/>
                <a:cs typeface="Georgia" pitchFamily="34" charset="-120"/>
              </a:rPr>
              <a:t>1</a:t>
            </a:r>
            <a:endParaRPr lang="en-US" sz="3200" dirty="0"/>
          </a:p>
        </p:txBody>
      </p:sp>
      <p:sp>
        <p:nvSpPr>
          <p:cNvPr id="7" name="Text 5"/>
          <p:cNvSpPr/>
          <p:nvPr/>
        </p:nvSpPr>
        <p:spPr>
          <a:xfrm>
            <a:off x="685800" y="2468880"/>
            <a:ext cx="2377440" cy="82296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Đọc file</a:t>
            </a:r>
            <a:endParaRPr lang="en-US" sz="2000" dirty="0"/>
          </a:p>
        </p:txBody>
      </p:sp>
      <p:sp>
        <p:nvSpPr>
          <p:cNvPr id="8" name="Text 6"/>
          <p:cNvSpPr/>
          <p:nvPr/>
        </p:nvSpPr>
        <p:spPr>
          <a:xfrm>
            <a:off x="685800" y="3383280"/>
            <a:ext cx="237744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Lấy tiêu đề, sapo và thân bài.</a:t>
            </a:r>
            <a:endParaRPr lang="en-US" sz="1600" dirty="0"/>
          </a:p>
        </p:txBody>
      </p:sp>
      <p:sp>
        <p:nvSpPr>
          <p:cNvPr id="9" name="Shape 7"/>
          <p:cNvSpPr/>
          <p:nvPr/>
        </p:nvSpPr>
        <p:spPr>
          <a:xfrm>
            <a:off x="3383280" y="1463040"/>
            <a:ext cx="2743200" cy="4526280"/>
          </a:xfrm>
          <a:prstGeom prst="rect">
            <a:avLst/>
          </a:prstGeom>
          <a:solidFill>
            <a:srgbClr val="F7F3E8"/>
          </a:solidFill>
          <a:ln w="9525">
            <a:solidFill>
              <a:srgbClr val="C8C0AE"/>
            </a:solidFill>
            <a:prstDash val="solid"/>
          </a:ln>
        </p:spPr>
      </p:sp>
      <p:sp>
        <p:nvSpPr>
          <p:cNvPr id="10" name="Text 8"/>
          <p:cNvSpPr/>
          <p:nvPr/>
        </p:nvSpPr>
        <p:spPr>
          <a:xfrm>
            <a:off x="3566160" y="1691640"/>
            <a:ext cx="2377440" cy="640080"/>
          </a:xfrm>
          <a:prstGeom prst="rect">
            <a:avLst/>
          </a:prstGeom>
          <a:noFill/>
          <a:ln/>
        </p:spPr>
        <p:txBody>
          <a:bodyPr wrap="square" lIns="0" tIns="0" rIns="0" bIns="0" rtlCol="0" anchor="ctr"/>
          <a:lstStyle/>
          <a:p>
            <a:pPr indent="0" marL="0">
              <a:buNone/>
            </a:pPr>
            <a:r>
              <a:rPr lang="en-US" sz="3200" dirty="0">
                <a:solidFill>
                  <a:srgbClr val="B8432A"/>
                </a:solidFill>
                <a:latin typeface="Georgia" pitchFamily="34" charset="0"/>
                <a:ea typeface="Georgia" pitchFamily="34" charset="-122"/>
                <a:cs typeface="Georgia" pitchFamily="34" charset="-120"/>
              </a:rPr>
              <a:t>2</a:t>
            </a:r>
            <a:endParaRPr lang="en-US" sz="3200" dirty="0"/>
          </a:p>
        </p:txBody>
      </p:sp>
      <p:sp>
        <p:nvSpPr>
          <p:cNvPr id="11" name="Text 9"/>
          <p:cNvSpPr/>
          <p:nvPr/>
        </p:nvSpPr>
        <p:spPr>
          <a:xfrm>
            <a:off x="3566160" y="2468880"/>
            <a:ext cx="2377440" cy="82296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Tách câu</a:t>
            </a:r>
            <a:endParaRPr lang="en-US" sz="2000" dirty="0"/>
          </a:p>
        </p:txBody>
      </p:sp>
      <p:sp>
        <p:nvSpPr>
          <p:cNvPr id="12" name="Text 10"/>
          <p:cNvSpPr/>
          <p:nvPr/>
        </p:nvSpPr>
        <p:spPr>
          <a:xfrm>
            <a:off x="3566160" y="3383280"/>
            <a:ext cx="237744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Lead-3 và TextRank chạy trên máy.</a:t>
            </a:r>
            <a:endParaRPr lang="en-US" sz="1600" dirty="0"/>
          </a:p>
        </p:txBody>
      </p:sp>
      <p:sp>
        <p:nvSpPr>
          <p:cNvPr id="13" name="Shape 11"/>
          <p:cNvSpPr/>
          <p:nvPr/>
        </p:nvSpPr>
        <p:spPr>
          <a:xfrm>
            <a:off x="6263640" y="1463040"/>
            <a:ext cx="2743200" cy="4526280"/>
          </a:xfrm>
          <a:prstGeom prst="rect">
            <a:avLst/>
          </a:prstGeom>
          <a:solidFill>
            <a:srgbClr val="F7F3E8"/>
          </a:solidFill>
          <a:ln w="9525">
            <a:solidFill>
              <a:srgbClr val="C8C0AE"/>
            </a:solidFill>
            <a:prstDash val="solid"/>
          </a:ln>
        </p:spPr>
      </p:sp>
      <p:sp>
        <p:nvSpPr>
          <p:cNvPr id="14" name="Text 12"/>
          <p:cNvSpPr/>
          <p:nvPr/>
        </p:nvSpPr>
        <p:spPr>
          <a:xfrm>
            <a:off x="6446520" y="1691640"/>
            <a:ext cx="2377440" cy="640080"/>
          </a:xfrm>
          <a:prstGeom prst="rect">
            <a:avLst/>
          </a:prstGeom>
          <a:noFill/>
          <a:ln/>
        </p:spPr>
        <p:txBody>
          <a:bodyPr wrap="square" lIns="0" tIns="0" rIns="0" bIns="0" rtlCol="0" anchor="ctr"/>
          <a:lstStyle/>
          <a:p>
            <a:pPr indent="0" marL="0">
              <a:buNone/>
            </a:pPr>
            <a:r>
              <a:rPr lang="en-US" sz="3200" dirty="0">
                <a:solidFill>
                  <a:srgbClr val="B8432A"/>
                </a:solidFill>
                <a:latin typeface="Georgia" pitchFamily="34" charset="0"/>
                <a:ea typeface="Georgia" pitchFamily="34" charset="-122"/>
                <a:cs typeface="Georgia" pitchFamily="34" charset="-120"/>
              </a:rPr>
              <a:t>3</a:t>
            </a:r>
            <a:endParaRPr lang="en-US" sz="3200" dirty="0"/>
          </a:p>
        </p:txBody>
      </p:sp>
      <p:sp>
        <p:nvSpPr>
          <p:cNvPr id="15" name="Text 13"/>
          <p:cNvSpPr/>
          <p:nvPr/>
        </p:nvSpPr>
        <p:spPr>
          <a:xfrm>
            <a:off x="6446520" y="2468880"/>
            <a:ext cx="2377440" cy="82296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ViT5</a:t>
            </a:r>
            <a:endParaRPr lang="en-US" sz="2000" dirty="0"/>
          </a:p>
        </p:txBody>
      </p:sp>
      <p:sp>
        <p:nvSpPr>
          <p:cNvPr id="16" name="Text 14"/>
          <p:cNvSpPr/>
          <p:nvPr/>
        </p:nvSpPr>
        <p:spPr>
          <a:xfrm>
            <a:off x="6446520" y="3383280"/>
            <a:ext cx="237744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Dùng câu đã viết sẵn và lưu lại.</a:t>
            </a:r>
            <a:endParaRPr lang="en-US" sz="1600" dirty="0"/>
          </a:p>
        </p:txBody>
      </p:sp>
      <p:sp>
        <p:nvSpPr>
          <p:cNvPr id="17" name="Shape 15"/>
          <p:cNvSpPr/>
          <p:nvPr/>
        </p:nvSpPr>
        <p:spPr>
          <a:xfrm>
            <a:off x="9144000" y="1463040"/>
            <a:ext cx="2743200" cy="4526280"/>
          </a:xfrm>
          <a:prstGeom prst="rect">
            <a:avLst/>
          </a:prstGeom>
          <a:solidFill>
            <a:srgbClr val="F7F3E8"/>
          </a:solidFill>
          <a:ln w="9525">
            <a:solidFill>
              <a:srgbClr val="C8C0AE"/>
            </a:solidFill>
            <a:prstDash val="solid"/>
          </a:ln>
        </p:spPr>
      </p:sp>
      <p:sp>
        <p:nvSpPr>
          <p:cNvPr id="18" name="Text 16"/>
          <p:cNvSpPr/>
          <p:nvPr/>
        </p:nvSpPr>
        <p:spPr>
          <a:xfrm>
            <a:off x="9326880" y="1691640"/>
            <a:ext cx="2377440" cy="640080"/>
          </a:xfrm>
          <a:prstGeom prst="rect">
            <a:avLst/>
          </a:prstGeom>
          <a:noFill/>
          <a:ln/>
        </p:spPr>
        <p:txBody>
          <a:bodyPr wrap="square" lIns="0" tIns="0" rIns="0" bIns="0" rtlCol="0" anchor="ctr"/>
          <a:lstStyle/>
          <a:p>
            <a:pPr indent="0" marL="0">
              <a:buNone/>
            </a:pPr>
            <a:r>
              <a:rPr lang="en-US" sz="3200" dirty="0">
                <a:solidFill>
                  <a:srgbClr val="B8432A"/>
                </a:solidFill>
                <a:latin typeface="Georgia" pitchFamily="34" charset="0"/>
                <a:ea typeface="Georgia" pitchFamily="34" charset="-122"/>
                <a:cs typeface="Georgia" pitchFamily="34" charset="-120"/>
              </a:rPr>
              <a:t>4</a:t>
            </a:r>
            <a:endParaRPr lang="en-US" sz="3200" dirty="0"/>
          </a:p>
        </p:txBody>
      </p:sp>
      <p:sp>
        <p:nvSpPr>
          <p:cNvPr id="19" name="Text 17"/>
          <p:cNvSpPr/>
          <p:nvPr/>
        </p:nvSpPr>
        <p:spPr>
          <a:xfrm>
            <a:off x="9326880" y="2468880"/>
            <a:ext cx="2377440" cy="82296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ROUGE</a:t>
            </a:r>
            <a:endParaRPr lang="en-US" sz="2000" dirty="0"/>
          </a:p>
        </p:txBody>
      </p:sp>
      <p:sp>
        <p:nvSpPr>
          <p:cNvPr id="20" name="Text 18"/>
          <p:cNvSpPr/>
          <p:nvPr/>
        </p:nvSpPr>
        <p:spPr>
          <a:xfrm>
            <a:off x="9326880" y="3383280"/>
            <a:ext cx="2377440" cy="2011680"/>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So bản tóm tắt với sapo bằng ROUGE-1, 2 và L.</a:t>
            </a:r>
            <a:endParaRPr lang="en-US" sz="1600" dirty="0"/>
          </a:p>
        </p:txBody>
      </p:sp>
      <p:sp>
        <p:nvSpPr>
          <p:cNvPr id="21" name="Text 19"/>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22" name="Text 20"/>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08   TIỀN XỬ LÝ</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Tiếng Việt</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Nhóm đọc file đã tách từ, rồi chấm trên đó</a:t>
            </a:r>
            <a:endParaRPr lang="en-US" sz="2800" dirty="0"/>
          </a:p>
        </p:txBody>
      </p:sp>
      <p:sp>
        <p:nvSpPr>
          <p:cNvPr id="5" name="Shape 3"/>
          <p:cNvSpPr/>
          <p:nvPr/>
        </p:nvSpPr>
        <p:spPr>
          <a:xfrm>
            <a:off x="502920" y="1417320"/>
            <a:ext cx="11155680" cy="1417320"/>
          </a:xfrm>
          <a:prstGeom prst="rect">
            <a:avLst/>
          </a:prstGeom>
          <a:solidFill>
            <a:srgbClr val="F7F3E8"/>
          </a:solidFill>
          <a:ln w="9525">
            <a:solidFill>
              <a:srgbClr val="C8C0AE"/>
            </a:solidFill>
            <a:prstDash val="solid"/>
          </a:ln>
        </p:spPr>
      </p:sp>
      <p:sp>
        <p:nvSpPr>
          <p:cNvPr id="6" name="Text 4"/>
          <p:cNvSpPr/>
          <p:nvPr/>
        </p:nvSpPr>
        <p:spPr>
          <a:xfrm>
            <a:off x="731520" y="1581912"/>
            <a:ext cx="2834640" cy="77724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Dấu gạch dưới</a:t>
            </a:r>
            <a:endParaRPr lang="en-US" sz="1800" dirty="0"/>
          </a:p>
        </p:txBody>
      </p:sp>
      <p:sp>
        <p:nvSpPr>
          <p:cNvPr id="7" name="Text 5"/>
          <p:cNvSpPr/>
          <p:nvPr/>
        </p:nvSpPr>
        <p:spPr>
          <a:xfrm>
            <a:off x="3657600" y="1581912"/>
            <a:ext cx="7680960" cy="7772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học_sinh là một từ có sẵn trong file Vietnews.</a:t>
            </a:r>
            <a:endParaRPr lang="en-US" sz="1800" dirty="0"/>
          </a:p>
        </p:txBody>
      </p:sp>
      <p:sp>
        <p:nvSpPr>
          <p:cNvPr id="8" name="Shape 6"/>
          <p:cNvSpPr/>
          <p:nvPr/>
        </p:nvSpPr>
        <p:spPr>
          <a:xfrm>
            <a:off x="502920" y="3017520"/>
            <a:ext cx="11155680" cy="1417320"/>
          </a:xfrm>
          <a:prstGeom prst="rect">
            <a:avLst/>
          </a:prstGeom>
          <a:solidFill>
            <a:srgbClr val="F7F3E8"/>
          </a:solidFill>
          <a:ln w="9525">
            <a:solidFill>
              <a:srgbClr val="C8C0AE"/>
            </a:solidFill>
            <a:prstDash val="solid"/>
          </a:ln>
        </p:spPr>
      </p:sp>
      <p:sp>
        <p:nvSpPr>
          <p:cNvPr id="9" name="Text 7"/>
          <p:cNvSpPr/>
          <p:nvPr/>
        </p:nvSpPr>
        <p:spPr>
          <a:xfrm>
            <a:off x="731520" y="3182112"/>
            <a:ext cx="2834640" cy="77724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Câu</a:t>
            </a:r>
            <a:endParaRPr lang="en-US" sz="1800" dirty="0"/>
          </a:p>
        </p:txBody>
      </p:sp>
      <p:sp>
        <p:nvSpPr>
          <p:cNvPr id="10" name="Text 8"/>
          <p:cNvSpPr/>
          <p:nvPr/>
        </p:nvSpPr>
        <p:spPr>
          <a:xfrm>
            <a:off x="3657600" y="3182112"/>
            <a:ext cx="7680960" cy="7772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Mỗi dòng thường là một câu. Dòng chưa hết câu thì nối đến dấu chấm.</a:t>
            </a:r>
            <a:endParaRPr lang="en-US" sz="1800" dirty="0"/>
          </a:p>
        </p:txBody>
      </p:sp>
      <p:sp>
        <p:nvSpPr>
          <p:cNvPr id="11" name="Shape 9"/>
          <p:cNvSpPr/>
          <p:nvPr/>
        </p:nvSpPr>
        <p:spPr>
          <a:xfrm>
            <a:off x="502920" y="4617720"/>
            <a:ext cx="11155680" cy="1417320"/>
          </a:xfrm>
          <a:prstGeom prst="rect">
            <a:avLst/>
          </a:prstGeom>
          <a:solidFill>
            <a:srgbClr val="F7F3E8"/>
          </a:solidFill>
          <a:ln w="9525">
            <a:solidFill>
              <a:srgbClr val="C8C0AE"/>
            </a:solidFill>
            <a:prstDash val="solid"/>
          </a:ln>
        </p:spPr>
      </p:sp>
      <p:sp>
        <p:nvSpPr>
          <p:cNvPr id="12" name="Text 10"/>
          <p:cNvSpPr/>
          <p:nvPr/>
        </p:nvSpPr>
        <p:spPr>
          <a:xfrm>
            <a:off x="731520" y="4782312"/>
            <a:ext cx="2834640" cy="77724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Lúc chấm</a:t>
            </a:r>
            <a:endParaRPr lang="en-US" sz="1800" dirty="0"/>
          </a:p>
        </p:txBody>
      </p:sp>
      <p:sp>
        <p:nvSpPr>
          <p:cNvPr id="13" name="Text 11"/>
          <p:cNvSpPr/>
          <p:nvPr/>
        </p:nvSpPr>
        <p:spPr>
          <a:xfrm>
            <a:off x="3657600" y="4782312"/>
            <a:ext cx="7680960" cy="7772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Đổi gạch dưới thành khoảng trắng ở bản tóm tắt và sapo, rồi tách theo khoảng trắng.</a:t>
            </a:r>
            <a:endParaRPr lang="en-US" sz="1800" dirty="0"/>
          </a:p>
        </p:txBody>
      </p:sp>
      <p:sp>
        <p:nvSpPr>
          <p:cNvPr id="14" name="Text 12"/>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5" name="Text 13"/>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09   LEAD-3</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Baseline</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Lấy ba câu đầu thân bài</a:t>
            </a:r>
            <a:endParaRPr lang="en-US" sz="2800" dirty="0"/>
          </a:p>
        </p:txBody>
      </p:sp>
      <p:sp>
        <p:nvSpPr>
          <p:cNvPr id="5" name="Shape 3"/>
          <p:cNvSpPr/>
          <p:nvPr/>
        </p:nvSpPr>
        <p:spPr>
          <a:xfrm>
            <a:off x="502920" y="1371600"/>
            <a:ext cx="6766560" cy="4663440"/>
          </a:xfrm>
          <a:prstGeom prst="rect">
            <a:avLst/>
          </a:prstGeom>
          <a:solidFill>
            <a:srgbClr val="F7F3E8"/>
          </a:solidFill>
          <a:ln w="9525">
            <a:solidFill>
              <a:srgbClr val="C8C0AE"/>
            </a:solidFill>
            <a:prstDash val="solid"/>
          </a:ln>
        </p:spPr>
      </p:sp>
      <p:sp>
        <p:nvSpPr>
          <p:cNvPr id="6" name="Text 4"/>
          <p:cNvSpPr/>
          <p:nvPr/>
        </p:nvSpPr>
        <p:spPr>
          <a:xfrm>
            <a:off x="777240" y="1600200"/>
            <a:ext cx="6217920" cy="32004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Cách làm</a:t>
            </a:r>
            <a:endParaRPr lang="en-US" sz="1600" dirty="0"/>
          </a:p>
        </p:txBody>
      </p:sp>
      <p:sp>
        <p:nvSpPr>
          <p:cNvPr id="7" name="Text 5"/>
          <p:cNvSpPr/>
          <p:nvPr/>
        </p:nvSpPr>
        <p:spPr>
          <a:xfrm>
            <a:off x="777240" y="2103120"/>
            <a:ext cx="6217920" cy="3291840"/>
          </a:xfrm>
          <a:prstGeom prst="rect">
            <a:avLst/>
          </a:prstGeom>
          <a:noFill/>
          <a:ln/>
        </p:spPr>
        <p:txBody>
          <a:bodyPr wrap="square" lIns="0" tIns="0" rIns="0" bIns="0" rtlCol="0" anchor="ctr"/>
          <a:lstStyle/>
          <a:p>
            <a:pPr indent="0" marL="0">
              <a:buNone/>
            </a:pPr>
            <a:r>
              <a:rPr lang="en-US" sz="2200" dirty="0">
                <a:solidFill>
                  <a:srgbClr val="2B2B2B"/>
                </a:solidFill>
                <a:latin typeface="Calibri" pitchFamily="34" charset="0"/>
                <a:ea typeface="Calibri" pitchFamily="34" charset="-122"/>
                <a:cs typeface="Calibri" pitchFamily="34" charset="-120"/>
              </a:rPr>
              <a:t>Lấy tối đa ba câu đứng đầu bài.</a:t>
            </a:r>
            <a:endParaRPr lang="en-US" sz="2200" dirty="0"/>
          </a:p>
          <a:p>
            <a:pPr indent="0" marL="0">
              <a:buNone/>
            </a:pPr>
            <a:endParaRPr lang="en-US" sz="2200" dirty="0"/>
          </a:p>
          <a:p>
            <a:pPr indent="0" marL="0">
              <a:buNone/>
            </a:pPr>
            <a:r>
              <a:rPr lang="en-US" sz="2200" dirty="0">
                <a:solidFill>
                  <a:srgbClr val="2B2B2B"/>
                </a:solidFill>
                <a:latin typeface="Calibri" pitchFamily="34" charset="0"/>
                <a:ea typeface="Calibri" pitchFamily="34" charset="-122"/>
                <a:cs typeface="Calibri" pitchFamily="34" charset="-120"/>
              </a:rPr>
              <a:t>Bài chỉ có hai câu thì giữ hai câu.</a:t>
            </a:r>
            <a:endParaRPr lang="en-US" sz="2200" dirty="0"/>
          </a:p>
          <a:p>
            <a:pPr indent="0" marL="0">
              <a:buNone/>
            </a:pPr>
            <a:endParaRPr lang="en-US" sz="2200" dirty="0"/>
          </a:p>
          <a:p>
            <a:pPr indent="0" marL="0">
              <a:buNone/>
            </a:pPr>
            <a:r>
              <a:rPr lang="en-US" sz="2200" dirty="0">
                <a:solidFill>
                  <a:srgbClr val="2B2B2B"/>
                </a:solidFill>
                <a:latin typeface="Calibri" pitchFamily="34" charset="0"/>
                <a:ea typeface="Calibri" pitchFamily="34" charset="-122"/>
                <a:cs typeface="Calibri" pitchFamily="34" charset="-120"/>
              </a:rPr>
              <a:t>Không sắp xếp lại, không chấm câu nào quan trọng hơn.</a:t>
            </a:r>
            <a:endParaRPr lang="en-US" sz="2200" dirty="0"/>
          </a:p>
        </p:txBody>
      </p:sp>
      <p:sp>
        <p:nvSpPr>
          <p:cNvPr id="8" name="Shape 6"/>
          <p:cNvSpPr/>
          <p:nvPr/>
        </p:nvSpPr>
        <p:spPr>
          <a:xfrm>
            <a:off x="7498080" y="1371600"/>
            <a:ext cx="4160520" cy="4663440"/>
          </a:xfrm>
          <a:prstGeom prst="rect">
            <a:avLst/>
          </a:prstGeom>
          <a:solidFill>
            <a:srgbClr val="F2E5D0"/>
          </a:solidFill>
          <a:ln w="9525">
            <a:solidFill>
              <a:srgbClr val="C8C0AE"/>
            </a:solidFill>
            <a:prstDash val="solid"/>
          </a:ln>
        </p:spPr>
      </p:sp>
      <p:sp>
        <p:nvSpPr>
          <p:cNvPr id="9" name="Text 7"/>
          <p:cNvSpPr/>
          <p:nvPr/>
        </p:nvSpPr>
        <p:spPr>
          <a:xfrm>
            <a:off x="7726680" y="1600200"/>
            <a:ext cx="374904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Vì sao cần</a:t>
            </a:r>
            <a:endParaRPr lang="en-US" sz="1600" dirty="0"/>
          </a:p>
        </p:txBody>
      </p:sp>
      <p:sp>
        <p:nvSpPr>
          <p:cNvPr id="10" name="Text 8"/>
          <p:cNvSpPr/>
          <p:nvPr/>
        </p:nvSpPr>
        <p:spPr>
          <a:xfrm>
            <a:off x="7726680" y="2194560"/>
            <a:ext cx="3749040" cy="32004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Tin thường nêu việc chính ngay câu đầu.</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Lấy ba câu đầu giúp thấy TextRank và ViT5 có hơn cách đơn giản này hay không.</a:t>
            </a:r>
            <a:endParaRPr lang="en-US" sz="1800" dirty="0"/>
          </a:p>
        </p:txBody>
      </p:sp>
      <p:sp>
        <p:nvSpPr>
          <p:cNvPr id="11" name="Text 9"/>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2" name="Text 10"/>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10   TEXTRANK</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Chọn câu trong một bài</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Chọn ba câu giống các câu khác nhất</a:t>
            </a:r>
            <a:endParaRPr lang="en-US" sz="2800" dirty="0"/>
          </a:p>
        </p:txBody>
      </p:sp>
      <p:sp>
        <p:nvSpPr>
          <p:cNvPr id="5" name="Shape 3"/>
          <p:cNvSpPr/>
          <p:nvPr/>
        </p:nvSpPr>
        <p:spPr>
          <a:xfrm>
            <a:off x="502920" y="1325880"/>
            <a:ext cx="11155680" cy="1115568"/>
          </a:xfrm>
          <a:prstGeom prst="rect">
            <a:avLst/>
          </a:prstGeom>
          <a:solidFill>
            <a:srgbClr val="F7F3E8"/>
          </a:solidFill>
          <a:ln w="9525">
            <a:solidFill>
              <a:srgbClr val="C8C0AE"/>
            </a:solidFill>
            <a:prstDash val="solid"/>
          </a:ln>
        </p:spPr>
      </p:sp>
      <p:sp>
        <p:nvSpPr>
          <p:cNvPr id="6" name="Text 4"/>
          <p:cNvSpPr/>
          <p:nvPr/>
        </p:nvSpPr>
        <p:spPr>
          <a:xfrm>
            <a:off x="731520" y="1618488"/>
            <a:ext cx="640080" cy="45720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1</a:t>
            </a:r>
            <a:endParaRPr lang="en-US" sz="2400" dirty="0"/>
          </a:p>
        </p:txBody>
      </p:sp>
      <p:sp>
        <p:nvSpPr>
          <p:cNvPr id="7" name="Text 5"/>
          <p:cNvSpPr/>
          <p:nvPr/>
        </p:nvSpPr>
        <p:spPr>
          <a:xfrm>
            <a:off x="1554480" y="1618488"/>
            <a:ext cx="25603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TF-IDF</a:t>
            </a:r>
            <a:endParaRPr lang="en-US" sz="2000" dirty="0"/>
          </a:p>
        </p:txBody>
      </p:sp>
      <p:sp>
        <p:nvSpPr>
          <p:cNvPr id="8" name="Text 6"/>
          <p:cNvSpPr/>
          <p:nvPr/>
        </p:nvSpPr>
        <p:spPr>
          <a:xfrm>
            <a:off x="4297680" y="1636776"/>
            <a:ext cx="6949440" cy="4572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Mỗi câu thành một vector, chỉ trong bài đó.</a:t>
            </a:r>
            <a:endParaRPr lang="en-US" sz="1800" dirty="0"/>
          </a:p>
        </p:txBody>
      </p:sp>
      <p:sp>
        <p:nvSpPr>
          <p:cNvPr id="9" name="Shape 7"/>
          <p:cNvSpPr/>
          <p:nvPr/>
        </p:nvSpPr>
        <p:spPr>
          <a:xfrm>
            <a:off x="502920" y="2560320"/>
            <a:ext cx="11155680" cy="1115568"/>
          </a:xfrm>
          <a:prstGeom prst="rect">
            <a:avLst/>
          </a:prstGeom>
          <a:solidFill>
            <a:srgbClr val="F7F3E8"/>
          </a:solidFill>
          <a:ln w="9525">
            <a:solidFill>
              <a:srgbClr val="C8C0AE"/>
            </a:solidFill>
            <a:prstDash val="solid"/>
          </a:ln>
        </p:spPr>
      </p:sp>
      <p:sp>
        <p:nvSpPr>
          <p:cNvPr id="10" name="Text 8"/>
          <p:cNvSpPr/>
          <p:nvPr/>
        </p:nvSpPr>
        <p:spPr>
          <a:xfrm>
            <a:off x="731520" y="2852928"/>
            <a:ext cx="640080" cy="45720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2</a:t>
            </a:r>
            <a:endParaRPr lang="en-US" sz="2400" dirty="0"/>
          </a:p>
        </p:txBody>
      </p:sp>
      <p:sp>
        <p:nvSpPr>
          <p:cNvPr id="11" name="Text 9"/>
          <p:cNvSpPr/>
          <p:nvPr/>
        </p:nvSpPr>
        <p:spPr>
          <a:xfrm>
            <a:off x="1554480" y="2852928"/>
            <a:ext cx="25603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Cosine</a:t>
            </a:r>
            <a:endParaRPr lang="en-US" sz="2000" dirty="0"/>
          </a:p>
        </p:txBody>
      </p:sp>
      <p:sp>
        <p:nvSpPr>
          <p:cNvPr id="12" name="Text 10"/>
          <p:cNvSpPr/>
          <p:nvPr/>
        </p:nvSpPr>
        <p:spPr>
          <a:xfrm>
            <a:off x="4297680" y="2871216"/>
            <a:ext cx="6949440" cy="4572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Đo hai câu giống nhau đến đâu.</a:t>
            </a:r>
            <a:endParaRPr lang="en-US" sz="1800" dirty="0"/>
          </a:p>
        </p:txBody>
      </p:sp>
      <p:sp>
        <p:nvSpPr>
          <p:cNvPr id="13" name="Shape 11"/>
          <p:cNvSpPr/>
          <p:nvPr/>
        </p:nvSpPr>
        <p:spPr>
          <a:xfrm>
            <a:off x="502920" y="3794760"/>
            <a:ext cx="11155680" cy="1115568"/>
          </a:xfrm>
          <a:prstGeom prst="rect">
            <a:avLst/>
          </a:prstGeom>
          <a:solidFill>
            <a:srgbClr val="F7F3E8"/>
          </a:solidFill>
          <a:ln w="9525">
            <a:solidFill>
              <a:srgbClr val="C8C0AE"/>
            </a:solidFill>
            <a:prstDash val="solid"/>
          </a:ln>
        </p:spPr>
      </p:sp>
      <p:sp>
        <p:nvSpPr>
          <p:cNvPr id="14" name="Text 12"/>
          <p:cNvSpPr/>
          <p:nvPr/>
        </p:nvSpPr>
        <p:spPr>
          <a:xfrm>
            <a:off x="731520" y="4087368"/>
            <a:ext cx="640080" cy="45720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3</a:t>
            </a:r>
            <a:endParaRPr lang="en-US" sz="2400" dirty="0"/>
          </a:p>
        </p:txBody>
      </p:sp>
      <p:sp>
        <p:nvSpPr>
          <p:cNvPr id="15" name="Text 13"/>
          <p:cNvSpPr/>
          <p:nvPr/>
        </p:nvSpPr>
        <p:spPr>
          <a:xfrm>
            <a:off x="1554480" y="4087368"/>
            <a:ext cx="25603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PageRank</a:t>
            </a:r>
            <a:endParaRPr lang="en-US" sz="2000" dirty="0"/>
          </a:p>
        </p:txBody>
      </p:sp>
      <p:sp>
        <p:nvSpPr>
          <p:cNvPr id="16" name="Text 14"/>
          <p:cNvSpPr/>
          <p:nvPr/>
        </p:nvSpPr>
        <p:spPr>
          <a:xfrm>
            <a:off x="4297680" y="4105656"/>
            <a:ext cx="6949440" cy="4572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40 vòng, damping 0.85.</a:t>
            </a:r>
            <a:endParaRPr lang="en-US" sz="1800" dirty="0"/>
          </a:p>
        </p:txBody>
      </p:sp>
      <p:sp>
        <p:nvSpPr>
          <p:cNvPr id="17" name="Shape 15"/>
          <p:cNvSpPr/>
          <p:nvPr/>
        </p:nvSpPr>
        <p:spPr>
          <a:xfrm>
            <a:off x="502920" y="5029200"/>
            <a:ext cx="11155680" cy="1115568"/>
          </a:xfrm>
          <a:prstGeom prst="rect">
            <a:avLst/>
          </a:prstGeom>
          <a:solidFill>
            <a:srgbClr val="F7F3E8"/>
          </a:solidFill>
          <a:ln w="9525">
            <a:solidFill>
              <a:srgbClr val="C8C0AE"/>
            </a:solidFill>
            <a:prstDash val="solid"/>
          </a:ln>
        </p:spPr>
      </p:sp>
      <p:sp>
        <p:nvSpPr>
          <p:cNvPr id="18" name="Text 16"/>
          <p:cNvSpPr/>
          <p:nvPr/>
        </p:nvSpPr>
        <p:spPr>
          <a:xfrm>
            <a:off x="731520" y="5321808"/>
            <a:ext cx="640080" cy="45720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4</a:t>
            </a:r>
            <a:endParaRPr lang="en-US" sz="2400" dirty="0"/>
          </a:p>
        </p:txBody>
      </p:sp>
      <p:sp>
        <p:nvSpPr>
          <p:cNvPr id="19" name="Text 17"/>
          <p:cNvSpPr/>
          <p:nvPr/>
        </p:nvSpPr>
        <p:spPr>
          <a:xfrm>
            <a:off x="1554480" y="5321808"/>
            <a:ext cx="25603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Lấy ba câu</a:t>
            </a:r>
            <a:endParaRPr lang="en-US" sz="2000" dirty="0"/>
          </a:p>
        </p:txBody>
      </p:sp>
      <p:sp>
        <p:nvSpPr>
          <p:cNvPr id="20" name="Text 18"/>
          <p:cNvSpPr/>
          <p:nvPr/>
        </p:nvSpPr>
        <p:spPr>
          <a:xfrm>
            <a:off x="4297680" y="5340096"/>
            <a:ext cx="6949440" cy="4572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Giữ thứ tự xuất hiện trong bài.</a:t>
            </a:r>
            <a:endParaRPr lang="en-US" sz="1800" dirty="0"/>
          </a:p>
        </p:txBody>
      </p:sp>
      <p:sp>
        <p:nvSpPr>
          <p:cNvPr id="21" name="Text 19"/>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22" name="Text 20"/>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11   VIT5</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Checkpoint có sẵn</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ViT5 viết câu mới từ checkpoint có sẵn</a:t>
            </a:r>
            <a:endParaRPr lang="en-US" sz="2800" dirty="0"/>
          </a:p>
        </p:txBody>
      </p:sp>
      <p:sp>
        <p:nvSpPr>
          <p:cNvPr id="5" name="Shape 3"/>
          <p:cNvSpPr/>
          <p:nvPr/>
        </p:nvSpPr>
        <p:spPr>
          <a:xfrm>
            <a:off x="502920" y="1371600"/>
            <a:ext cx="11155680" cy="1051560"/>
          </a:xfrm>
          <a:prstGeom prst="rect">
            <a:avLst/>
          </a:prstGeom>
          <a:solidFill>
            <a:srgbClr val="F7F3E8"/>
          </a:solidFill>
          <a:ln w="9525">
            <a:solidFill>
              <a:srgbClr val="C8C0AE"/>
            </a:solidFill>
            <a:prstDash val="solid"/>
          </a:ln>
        </p:spPr>
      </p:sp>
      <p:sp>
        <p:nvSpPr>
          <p:cNvPr id="6" name="Text 4"/>
          <p:cNvSpPr/>
          <p:nvPr/>
        </p:nvSpPr>
        <p:spPr>
          <a:xfrm>
            <a:off x="731520" y="1664208"/>
            <a:ext cx="27432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Model</a:t>
            </a:r>
            <a:endParaRPr lang="en-US" sz="1800" dirty="0"/>
          </a:p>
        </p:txBody>
      </p:sp>
      <p:sp>
        <p:nvSpPr>
          <p:cNvPr id="7" name="Text 5"/>
          <p:cNvSpPr/>
          <p:nvPr/>
        </p:nvSpPr>
        <p:spPr>
          <a:xfrm>
            <a:off x="3566160" y="1664208"/>
            <a:ext cx="77724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VietAI/vit5-base-vietnews-summarization</a:t>
            </a:r>
            <a:endParaRPr lang="en-US" sz="1800" dirty="0"/>
          </a:p>
        </p:txBody>
      </p:sp>
      <p:sp>
        <p:nvSpPr>
          <p:cNvPr id="8" name="Shape 6"/>
          <p:cNvSpPr/>
          <p:nvPr/>
        </p:nvSpPr>
        <p:spPr>
          <a:xfrm>
            <a:off x="502920" y="2560320"/>
            <a:ext cx="11155680" cy="1051560"/>
          </a:xfrm>
          <a:prstGeom prst="rect">
            <a:avLst/>
          </a:prstGeom>
          <a:solidFill>
            <a:srgbClr val="F7F3E8"/>
          </a:solidFill>
          <a:ln w="9525">
            <a:solidFill>
              <a:srgbClr val="C8C0AE"/>
            </a:solidFill>
            <a:prstDash val="solid"/>
          </a:ln>
        </p:spPr>
      </p:sp>
      <p:sp>
        <p:nvSpPr>
          <p:cNvPr id="9" name="Text 7"/>
          <p:cNvSpPr/>
          <p:nvPr/>
        </p:nvSpPr>
        <p:spPr>
          <a:xfrm>
            <a:off x="731520" y="2852928"/>
            <a:ext cx="27432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Việc của nhóm</a:t>
            </a:r>
            <a:endParaRPr lang="en-US" sz="1800" dirty="0"/>
          </a:p>
        </p:txBody>
      </p:sp>
      <p:sp>
        <p:nvSpPr>
          <p:cNvPr id="10" name="Text 8"/>
          <p:cNvSpPr/>
          <p:nvPr/>
        </p:nvSpPr>
        <p:spPr>
          <a:xfrm>
            <a:off x="3566160" y="2852928"/>
            <a:ext cx="77724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Cho model đọc bài và viết tóm tắt. Trọng số giữ nguyên như checkpoint.</a:t>
            </a:r>
            <a:endParaRPr lang="en-US" sz="1800" dirty="0"/>
          </a:p>
        </p:txBody>
      </p:sp>
      <p:sp>
        <p:nvSpPr>
          <p:cNvPr id="11" name="Shape 9"/>
          <p:cNvSpPr/>
          <p:nvPr/>
        </p:nvSpPr>
        <p:spPr>
          <a:xfrm>
            <a:off x="502920" y="3749040"/>
            <a:ext cx="11155680" cy="1051560"/>
          </a:xfrm>
          <a:prstGeom prst="rect">
            <a:avLst/>
          </a:prstGeom>
          <a:solidFill>
            <a:srgbClr val="F7F3E8"/>
          </a:solidFill>
          <a:ln w="9525">
            <a:solidFill>
              <a:srgbClr val="C8C0AE"/>
            </a:solidFill>
            <a:prstDash val="solid"/>
          </a:ln>
        </p:spPr>
      </p:sp>
      <p:sp>
        <p:nvSpPr>
          <p:cNvPr id="12" name="Text 10"/>
          <p:cNvSpPr/>
          <p:nvPr/>
        </p:nvSpPr>
        <p:spPr>
          <a:xfrm>
            <a:off x="731520" y="4041648"/>
            <a:ext cx="27432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Đưa vào</a:t>
            </a:r>
            <a:endParaRPr lang="en-US" sz="1800" dirty="0"/>
          </a:p>
        </p:txBody>
      </p:sp>
      <p:sp>
        <p:nvSpPr>
          <p:cNvPr id="13" name="Text 11"/>
          <p:cNvSpPr/>
          <p:nvPr/>
        </p:nvSpPr>
        <p:spPr>
          <a:xfrm>
            <a:off x="3566160" y="4041648"/>
            <a:ext cx="77724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Thân bài, thêm ký hiệu kết thúc. Tối đa 1.024 token.</a:t>
            </a:r>
            <a:endParaRPr lang="en-US" sz="1800" dirty="0"/>
          </a:p>
        </p:txBody>
      </p:sp>
      <p:sp>
        <p:nvSpPr>
          <p:cNvPr id="14" name="Shape 12"/>
          <p:cNvSpPr/>
          <p:nvPr/>
        </p:nvSpPr>
        <p:spPr>
          <a:xfrm>
            <a:off x="502920" y="4937760"/>
            <a:ext cx="11155680" cy="1051560"/>
          </a:xfrm>
          <a:prstGeom prst="rect">
            <a:avLst/>
          </a:prstGeom>
          <a:solidFill>
            <a:srgbClr val="F7F3E8"/>
          </a:solidFill>
          <a:ln w="9525">
            <a:solidFill>
              <a:srgbClr val="C8C0AE"/>
            </a:solidFill>
            <a:prstDash val="solid"/>
          </a:ln>
        </p:spPr>
      </p:sp>
      <p:sp>
        <p:nvSpPr>
          <p:cNvPr id="15" name="Text 13"/>
          <p:cNvSpPr/>
          <p:nvPr/>
        </p:nvSpPr>
        <p:spPr>
          <a:xfrm>
            <a:off x="731520" y="5230368"/>
            <a:ext cx="274320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Sinh ra</a:t>
            </a:r>
            <a:endParaRPr lang="en-US" sz="1800" dirty="0"/>
          </a:p>
        </p:txBody>
      </p:sp>
      <p:sp>
        <p:nvSpPr>
          <p:cNvPr id="16" name="Text 14"/>
          <p:cNvSpPr/>
          <p:nvPr/>
        </p:nvSpPr>
        <p:spPr>
          <a:xfrm>
            <a:off x="3566160" y="5230368"/>
            <a:ext cx="777240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Mỗi bản tóm tắt dài tối đa 256 token.</a:t>
            </a:r>
            <a:endParaRPr lang="en-US" sz="1800" dirty="0"/>
          </a:p>
        </p:txBody>
      </p:sp>
      <p:sp>
        <p:nvSpPr>
          <p:cNvPr id="17" name="Text 15"/>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8" name="Text 16"/>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12   THIẾT LẬP</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Cùng tập, cùng cách chấm</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Ba hệ nhìn cùng các bài test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4709160"/>
        </p:xfrm>
        <a:graphic>
          <a:graphicData uri="http://schemas.openxmlformats.org/drawingml/2006/table">
            <a:tbl>
              <a:tblPr/>
              <a:tblGrid>
                <a:gridCol w="2743200"/>
                <a:gridCol w="8412480"/>
              </a:tblGrid>
              <a:tr h="784860">
                <a:tc>
                  <a:txBody>
                    <a:bodyPr/>
                    <a:lstStyle/>
                    <a:p>
                      <a:pPr algn="l" indent="0" marL="0">
                        <a:buNone/>
                      </a:pPr>
                      <a:r>
                        <a:rPr lang="en-US" sz="1800" b="1" dirty="0">
                          <a:solidFill>
                            <a:srgbClr val="EFE8D6"/>
                          </a:solidFill>
                          <a:latin typeface="Calibri" pitchFamily="34" charset="0"/>
                          <a:ea typeface="Calibri" pitchFamily="34" charset="-122"/>
                          <a:cs typeface="Calibri" pitchFamily="34" charset="-120"/>
                        </a:rPr>
                        <a:t>Hạng mục</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c>
                  <a:txBody>
                    <a:bodyPr/>
                    <a:lstStyle/>
                    <a:p>
                      <a:pPr algn="l" indent="0" marL="0">
                        <a:buNone/>
                      </a:pPr>
                      <a:r>
                        <a:rPr lang="en-US" sz="1800" b="1" dirty="0">
                          <a:solidFill>
                            <a:srgbClr val="EFE8D6"/>
                          </a:solidFill>
                          <a:latin typeface="Calibri" pitchFamily="34" charset="0"/>
                          <a:ea typeface="Calibri" pitchFamily="34" charset="-122"/>
                          <a:cs typeface="Calibri" pitchFamily="34" charset="-120"/>
                        </a:rPr>
                        <a:t>Cách nhóm làm</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r>
              <a:tr h="784860">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Tập 100</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Bài 000001 đến 000100, chạy trước</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84860">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Tập 500</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Bài 000001 đến 000500, gồm cả 100 bài trên</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84860">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Ba cách</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Lead-3, TextRank và ViT5 trên cùng các bài</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84860">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Cách chấm</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ROUGE-1, ROUGE-2, ROUGE-L, lấy điểm F1</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84860">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ViT5</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l" indent="0" marL="0">
                        <a:buNone/>
                      </a:pPr>
                      <a:r>
                        <a:rPr lang="en-US" sz="1800" dirty="0">
                          <a:solidFill>
                            <a:srgbClr val="2B2B2B"/>
                          </a:solidFill>
                          <a:latin typeface="Calibri" pitchFamily="34" charset="0"/>
                          <a:ea typeface="Calibri" pitchFamily="34" charset="-122"/>
                          <a:cs typeface="Calibri" pitchFamily="34" charset="-120"/>
                        </a:rPr>
                        <a:t>Sinh một lần trên Kaggle, rồi lưu file kết quả</a:t>
                      </a:r>
                      <a:endParaRPr lang="en-US" sz="18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bl>
          </a:graphicData>
        </a:graphic>
      </p:graphicFrame>
      <p:sp>
        <p:nvSpPr>
          <p:cNvPr id="6" name="Text 3"/>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7" name="Text 4"/>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13   KẾT QUẢ</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500 bài test</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ViT5 cao hơn một chút, Lead-3 vẫn gần</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2880360"/>
        </p:xfrm>
        <a:graphic>
          <a:graphicData uri="http://schemas.openxmlformats.org/drawingml/2006/table">
            <a:tbl>
              <a:tblPr/>
              <a:tblGrid>
                <a:gridCol w="2926080"/>
                <a:gridCol w="2743200"/>
                <a:gridCol w="2743200"/>
                <a:gridCol w="2743200"/>
              </a:tblGrid>
              <a:tr h="720090">
                <a:tc>
                  <a:txBody>
                    <a:bodyPr/>
                    <a:lstStyle/>
                    <a:p>
                      <a:pPr algn="ctr" indent="0" marL="0">
                        <a:buNone/>
                      </a:pPr>
                      <a:r>
                        <a:rPr lang="en-US" sz="2000" b="1" dirty="0">
                          <a:solidFill>
                            <a:srgbClr val="EFE8D6"/>
                          </a:solidFill>
                          <a:latin typeface="Calibri" pitchFamily="34" charset="0"/>
                          <a:ea typeface="Calibri" pitchFamily="34" charset="-122"/>
                          <a:cs typeface="Calibri" pitchFamily="34" charset="-120"/>
                        </a:rPr>
                        <a:t>Cách làm</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c>
                  <a:txBody>
                    <a:bodyPr/>
                    <a:lstStyle/>
                    <a:p>
                      <a:pPr algn="ctr" indent="0" marL="0">
                        <a:buNone/>
                      </a:pPr>
                      <a:r>
                        <a:rPr lang="en-US" sz="2000" b="1" dirty="0">
                          <a:solidFill>
                            <a:srgbClr val="EFE8D6"/>
                          </a:solidFill>
                          <a:latin typeface="Calibri" pitchFamily="34" charset="0"/>
                          <a:ea typeface="Calibri" pitchFamily="34" charset="-122"/>
                          <a:cs typeface="Calibri" pitchFamily="34" charset="-120"/>
                        </a:rPr>
                        <a:t>ROUGE-1</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c>
                  <a:txBody>
                    <a:bodyPr/>
                    <a:lstStyle/>
                    <a:p>
                      <a:pPr algn="ctr" indent="0" marL="0">
                        <a:buNone/>
                      </a:pPr>
                      <a:r>
                        <a:rPr lang="en-US" sz="2000" b="1" dirty="0">
                          <a:solidFill>
                            <a:srgbClr val="EFE8D6"/>
                          </a:solidFill>
                          <a:latin typeface="Calibri" pitchFamily="34" charset="0"/>
                          <a:ea typeface="Calibri" pitchFamily="34" charset="-122"/>
                          <a:cs typeface="Calibri" pitchFamily="34" charset="-120"/>
                        </a:rPr>
                        <a:t>ROUGE-2</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c>
                  <a:txBody>
                    <a:bodyPr/>
                    <a:lstStyle/>
                    <a:p>
                      <a:pPr algn="ctr" indent="0" marL="0">
                        <a:buNone/>
                      </a:pPr>
                      <a:r>
                        <a:rPr lang="en-US" sz="2000" b="1" dirty="0">
                          <a:solidFill>
                            <a:srgbClr val="EFE8D6"/>
                          </a:solidFill>
                          <a:latin typeface="Calibri" pitchFamily="34" charset="0"/>
                          <a:ea typeface="Calibri" pitchFamily="34" charset="-122"/>
                          <a:cs typeface="Calibri" pitchFamily="34" charset="-120"/>
                        </a:rPr>
                        <a:t>ROUGE-L</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0B0B0B"/>
                    </a:solidFill>
                  </a:tcPr>
                </a:tc>
              </a:tr>
              <a:tr h="720090">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Lead-3</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0.2569</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0.1294</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0.1856</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20090">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TextRank</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0.2499</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0.1198</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c>
                  <a:txBody>
                    <a:bodyPr/>
                    <a:lstStyle/>
                    <a:p>
                      <a:pPr algn="ctr" indent="0" marL="0">
                        <a:buNone/>
                      </a:pPr>
                      <a:r>
                        <a:rPr lang="en-US" sz="2000" dirty="0">
                          <a:solidFill>
                            <a:srgbClr val="2B2B2B"/>
                          </a:solidFill>
                          <a:latin typeface="Calibri" pitchFamily="34" charset="0"/>
                          <a:ea typeface="Calibri" pitchFamily="34" charset="-122"/>
                          <a:cs typeface="Calibri" pitchFamily="34" charset="-120"/>
                        </a:rPr>
                        <a:t>0.1815</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tcPr>
                </a:tc>
              </a:tr>
              <a:tr h="720090">
                <a:tc>
                  <a:txBody>
                    <a:bodyPr/>
                    <a:lstStyle/>
                    <a:p>
                      <a:pPr algn="ctr" indent="0" marL="0">
                        <a:buNone/>
                      </a:pPr>
                      <a:r>
                        <a:rPr lang="en-US" sz="2000" b="1" dirty="0">
                          <a:solidFill>
                            <a:srgbClr val="2B2B2B"/>
                          </a:solidFill>
                          <a:latin typeface="Calibri" pitchFamily="34" charset="0"/>
                          <a:ea typeface="Calibri" pitchFamily="34" charset="-122"/>
                          <a:cs typeface="Calibri" pitchFamily="34" charset="-120"/>
                        </a:rPr>
                        <a:t>ViT5</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F2E5D0"/>
                    </a:solidFill>
                  </a:tcPr>
                </a:tc>
                <a:tc>
                  <a:txBody>
                    <a:bodyPr/>
                    <a:lstStyle/>
                    <a:p>
                      <a:pPr algn="ctr" indent="0" marL="0">
                        <a:buNone/>
                      </a:pPr>
                      <a:r>
                        <a:rPr lang="en-US" sz="2000" b="1" dirty="0">
                          <a:solidFill>
                            <a:srgbClr val="2B2B2B"/>
                          </a:solidFill>
                          <a:latin typeface="Calibri" pitchFamily="34" charset="0"/>
                          <a:ea typeface="Calibri" pitchFamily="34" charset="-122"/>
                          <a:cs typeface="Calibri" pitchFamily="34" charset="-120"/>
                        </a:rPr>
                        <a:t>0.2784</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F2E5D0"/>
                    </a:solidFill>
                  </a:tcPr>
                </a:tc>
                <a:tc>
                  <a:txBody>
                    <a:bodyPr/>
                    <a:lstStyle/>
                    <a:p>
                      <a:pPr algn="ctr" indent="0" marL="0">
                        <a:buNone/>
                      </a:pPr>
                      <a:r>
                        <a:rPr lang="en-US" sz="2000" b="1" dirty="0">
                          <a:solidFill>
                            <a:srgbClr val="2B2B2B"/>
                          </a:solidFill>
                          <a:latin typeface="Calibri" pitchFamily="34" charset="0"/>
                          <a:ea typeface="Calibri" pitchFamily="34" charset="-122"/>
                          <a:cs typeface="Calibri" pitchFamily="34" charset="-120"/>
                        </a:rPr>
                        <a:t>0.1474</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F2E5D0"/>
                    </a:solidFill>
                  </a:tcPr>
                </a:tc>
                <a:tc>
                  <a:txBody>
                    <a:bodyPr/>
                    <a:lstStyle/>
                    <a:p>
                      <a:pPr algn="ctr" indent="0" marL="0">
                        <a:buNone/>
                      </a:pPr>
                      <a:r>
                        <a:rPr lang="en-US" sz="2000" b="1" dirty="0">
                          <a:solidFill>
                            <a:srgbClr val="2B2B2B"/>
                          </a:solidFill>
                          <a:latin typeface="Calibri" pitchFamily="34" charset="0"/>
                          <a:ea typeface="Calibri" pitchFamily="34" charset="-122"/>
                          <a:cs typeface="Calibri" pitchFamily="34" charset="-120"/>
                        </a:rPr>
                        <a:t>0.2233</a:t>
                      </a:r>
                      <a:endParaRPr lang="en-US" sz="2000" dirty="0">
                        <a:latin typeface="Calibri" charset="0"/>
                        <a:ea typeface="Calibri" charset="0"/>
                        <a:cs typeface="Calibri" charset="0"/>
                      </a:endParaRPr>
                    </a:p>
                  </a:txBody>
                  <a:tcPr marL="91440" marR="91440" marT="45720" marB="45720" anchor="ctr">
                    <a:lnL w="6350" cap="flat" cmpd="sng" algn="ctr">
                      <a:solidFill>
                        <a:srgbClr val="C8C0AE"/>
                      </a:solidFill>
                      <a:prstDash val="solid"/>
                      <a:round/>
                      <a:headEnd type="none" w="med" len="med"/>
                      <a:tailEnd type="none" w="med" len="med"/>
                    </a:lnL>
                    <a:lnR w="6350" cap="flat" cmpd="sng" algn="ctr">
                      <a:solidFill>
                        <a:srgbClr val="C8C0AE"/>
                      </a:solidFill>
                      <a:prstDash val="solid"/>
                      <a:round/>
                      <a:headEnd type="none" w="med" len="med"/>
                      <a:tailEnd type="none" w="med" len="med"/>
                    </a:lnR>
                    <a:lnT w="6350" cap="flat" cmpd="sng" algn="ctr">
                      <a:solidFill>
                        <a:srgbClr val="C8C0AE"/>
                      </a:solidFill>
                      <a:prstDash val="solid"/>
                      <a:round/>
                      <a:headEnd type="none" w="med" len="med"/>
                      <a:tailEnd type="none" w="med" len="med"/>
                    </a:lnT>
                    <a:lnB w="6350" cap="flat" cmpd="sng" algn="ctr">
                      <a:solidFill>
                        <a:srgbClr val="C8C0AE"/>
                      </a:solidFill>
                      <a:prstDash val="solid"/>
                      <a:round/>
                      <a:headEnd type="none" w="med" len="med"/>
                      <a:tailEnd type="none" w="med" len="med"/>
                    </a:lnB>
                    <a:solidFill>
                      <a:srgbClr val="F2E5D0"/>
                    </a:solidFill>
                  </a:tcPr>
                </a:tc>
              </a:tr>
            </a:tbl>
          </a:graphicData>
        </a:graphic>
      </p:graphicFrame>
      <p:sp>
        <p:nvSpPr>
          <p:cNvPr id="6" name="Text 3"/>
          <p:cNvSpPr/>
          <p:nvPr/>
        </p:nvSpPr>
        <p:spPr>
          <a:xfrm>
            <a:off x="502920" y="4434840"/>
            <a:ext cx="11155680" cy="137160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Trên 500 bài, TextRank thấp hơn Lead-3. Lấy một câu đầu đã đạt 0.2719. ViT5 chỉ hơn mức đó một ít. Số này do nhóm tính.</a:t>
            </a:r>
            <a:endParaRPr lang="en-US" sz="1800" dirty="0"/>
          </a:p>
        </p:txBody>
      </p:sp>
      <p:sp>
        <p:nvSpPr>
          <p:cNvPr id="7" name="Text 4"/>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8" name="Text 5"/>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14   ĐỌC TAY</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Hai ví dụ</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Trùng nhiều chữ vẫn có thể sai việc</a:t>
            </a:r>
            <a:endParaRPr lang="en-US" sz="2800" dirty="0"/>
          </a:p>
        </p:txBody>
      </p:sp>
      <p:sp>
        <p:nvSpPr>
          <p:cNvPr id="5" name="Shape 3"/>
          <p:cNvSpPr/>
          <p:nvPr/>
        </p:nvSpPr>
        <p:spPr>
          <a:xfrm>
            <a:off x="502920" y="1325880"/>
            <a:ext cx="5532120" cy="4709160"/>
          </a:xfrm>
          <a:prstGeom prst="rect">
            <a:avLst/>
          </a:prstGeom>
          <a:solidFill>
            <a:srgbClr val="F7F3E8"/>
          </a:solidFill>
          <a:ln w="9525">
            <a:solidFill>
              <a:srgbClr val="C8C0AE"/>
            </a:solidFill>
            <a:prstDash val="solid"/>
          </a:ln>
        </p:spPr>
      </p:sp>
      <p:sp>
        <p:nvSpPr>
          <p:cNvPr id="6" name="Shape 4"/>
          <p:cNvSpPr/>
          <p:nvPr/>
        </p:nvSpPr>
        <p:spPr>
          <a:xfrm>
            <a:off x="6217920" y="1325880"/>
            <a:ext cx="5486400" cy="4709160"/>
          </a:xfrm>
          <a:prstGeom prst="rect">
            <a:avLst/>
          </a:prstGeom>
          <a:solidFill>
            <a:srgbClr val="F2E5D0"/>
          </a:solidFill>
          <a:ln w="9525">
            <a:solidFill>
              <a:srgbClr val="C8C0AE"/>
            </a:solidFill>
            <a:prstDash val="solid"/>
          </a:ln>
        </p:spPr>
      </p:sp>
      <p:sp>
        <p:nvSpPr>
          <p:cNvPr id="7" name="Text 5"/>
          <p:cNvSpPr/>
          <p:nvPr/>
        </p:nvSpPr>
        <p:spPr>
          <a:xfrm>
            <a:off x="731520" y="1508760"/>
            <a:ext cx="512064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000021  ·  sai tên</a:t>
            </a:r>
            <a:endParaRPr lang="en-US" sz="1600" dirty="0"/>
          </a:p>
        </p:txBody>
      </p:sp>
      <p:sp>
        <p:nvSpPr>
          <p:cNvPr id="8" name="Text 6"/>
          <p:cNvSpPr/>
          <p:nvPr/>
        </p:nvSpPr>
        <p:spPr>
          <a:xfrm>
            <a:off x="731520" y="2011680"/>
            <a:ext cx="5074920" cy="356616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Trong bài, Nguyễn Văn Được dùng dây dù siết cổ bạn gái.</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ViT5 viết: Nguyễn "Văn" được cho là đã dùng dây dù.</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Bài này vẫn đạt ROUGE-1 bằng 0.5161 trên bảng 100 bài.</a:t>
            </a:r>
            <a:endParaRPr lang="en-US" sz="1800" dirty="0"/>
          </a:p>
        </p:txBody>
      </p:sp>
      <p:sp>
        <p:nvSpPr>
          <p:cNvPr id="9" name="Text 7"/>
          <p:cNvSpPr/>
          <p:nvPr/>
        </p:nvSpPr>
        <p:spPr>
          <a:xfrm>
            <a:off x="6446520" y="1508760"/>
            <a:ext cx="502920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000011  ·  sai đồ vật</a:t>
            </a:r>
            <a:endParaRPr lang="en-US" sz="1600" dirty="0"/>
          </a:p>
        </p:txBody>
      </p:sp>
      <p:sp>
        <p:nvSpPr>
          <p:cNvPr id="10" name="Text 8"/>
          <p:cNvSpPr/>
          <p:nvPr/>
        </p:nvSpPr>
        <p:spPr>
          <a:xfrm>
            <a:off x="6446520" y="2011680"/>
            <a:ext cx="5029200" cy="356616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Thân bài: Nguyễn Văn Tú thuê xe chở máy ủi đem bán.</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ViT5: trộm được xe bồn.</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Xe bồn không có trong thân bài.</a:t>
            </a:r>
            <a:endParaRPr lang="en-US" sz="1800" dirty="0"/>
          </a:p>
        </p:txBody>
      </p:sp>
      <p:sp>
        <p:nvSpPr>
          <p:cNvPr id="11" name="Text 9"/>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2" name="Text 10"/>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15   DEMO</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Cùng một bài</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Ba cột trên cùng một bài</a:t>
            </a:r>
            <a:endParaRPr lang="en-US" sz="2800" dirty="0"/>
          </a:p>
        </p:txBody>
      </p:sp>
      <p:sp>
        <p:nvSpPr>
          <p:cNvPr id="5" name="Shape 3"/>
          <p:cNvSpPr/>
          <p:nvPr/>
        </p:nvSpPr>
        <p:spPr>
          <a:xfrm>
            <a:off x="502920" y="1554480"/>
            <a:ext cx="3611880" cy="4297680"/>
          </a:xfrm>
          <a:prstGeom prst="rect">
            <a:avLst/>
          </a:prstGeom>
          <a:solidFill>
            <a:srgbClr val="F7F3E8"/>
          </a:solidFill>
          <a:ln w="9525">
            <a:solidFill>
              <a:srgbClr val="C8C0AE"/>
            </a:solidFill>
            <a:prstDash val="solid"/>
          </a:ln>
        </p:spPr>
      </p:sp>
      <p:sp>
        <p:nvSpPr>
          <p:cNvPr id="6" name="Text 4"/>
          <p:cNvSpPr/>
          <p:nvPr/>
        </p:nvSpPr>
        <p:spPr>
          <a:xfrm>
            <a:off x="777240" y="1874520"/>
            <a:ext cx="3063240" cy="64008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Lead-3</a:t>
            </a:r>
            <a:endParaRPr lang="en-US" sz="2800" dirty="0"/>
          </a:p>
        </p:txBody>
      </p:sp>
      <p:sp>
        <p:nvSpPr>
          <p:cNvPr id="7" name="Text 5"/>
          <p:cNvSpPr/>
          <p:nvPr/>
        </p:nvSpPr>
        <p:spPr>
          <a:xfrm>
            <a:off x="777240" y="2743200"/>
            <a:ext cx="3063240" cy="2377440"/>
          </a:xfrm>
          <a:prstGeom prst="rect">
            <a:avLst/>
          </a:prstGeom>
          <a:noFill/>
          <a:ln/>
        </p:spPr>
        <p:txBody>
          <a:bodyPr wrap="square" lIns="0" tIns="0" rIns="0" bIns="0" rtlCol="0" anchor="ctr"/>
          <a:lstStyle/>
          <a:p>
            <a:pPr indent="0" marL="0">
              <a:buNone/>
            </a:pPr>
            <a:r>
              <a:rPr lang="en-US" sz="2000" dirty="0">
                <a:solidFill>
                  <a:srgbClr val="2B2B2B"/>
                </a:solidFill>
                <a:latin typeface="Calibri" pitchFamily="34" charset="0"/>
                <a:ea typeface="Calibri" pitchFamily="34" charset="-122"/>
                <a:cs typeface="Calibri" pitchFamily="34" charset="-120"/>
              </a:rPr>
              <a:t>Ba câu đầu của thân bài.</a:t>
            </a:r>
            <a:endParaRPr lang="en-US" sz="2000" dirty="0"/>
          </a:p>
        </p:txBody>
      </p:sp>
      <p:sp>
        <p:nvSpPr>
          <p:cNvPr id="8" name="Shape 6"/>
          <p:cNvSpPr/>
          <p:nvPr/>
        </p:nvSpPr>
        <p:spPr>
          <a:xfrm>
            <a:off x="4343400" y="1554480"/>
            <a:ext cx="3611880" cy="4297680"/>
          </a:xfrm>
          <a:prstGeom prst="rect">
            <a:avLst/>
          </a:prstGeom>
          <a:solidFill>
            <a:srgbClr val="F7F3E8"/>
          </a:solidFill>
          <a:ln w="9525">
            <a:solidFill>
              <a:srgbClr val="C8C0AE"/>
            </a:solidFill>
            <a:prstDash val="solid"/>
          </a:ln>
        </p:spPr>
      </p:sp>
      <p:sp>
        <p:nvSpPr>
          <p:cNvPr id="9" name="Text 7"/>
          <p:cNvSpPr/>
          <p:nvPr/>
        </p:nvSpPr>
        <p:spPr>
          <a:xfrm>
            <a:off x="4617720" y="1874520"/>
            <a:ext cx="3063240" cy="64008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TextRank</a:t>
            </a:r>
            <a:endParaRPr lang="en-US" sz="2800" dirty="0"/>
          </a:p>
        </p:txBody>
      </p:sp>
      <p:sp>
        <p:nvSpPr>
          <p:cNvPr id="10" name="Text 8"/>
          <p:cNvSpPr/>
          <p:nvPr/>
        </p:nvSpPr>
        <p:spPr>
          <a:xfrm>
            <a:off x="4617720" y="2743200"/>
            <a:ext cx="3063240" cy="2377440"/>
          </a:xfrm>
          <a:prstGeom prst="rect">
            <a:avLst/>
          </a:prstGeom>
          <a:noFill/>
          <a:ln/>
        </p:spPr>
        <p:txBody>
          <a:bodyPr wrap="square" lIns="0" tIns="0" rIns="0" bIns="0" rtlCol="0" anchor="ctr"/>
          <a:lstStyle/>
          <a:p>
            <a:pPr indent="0" marL="0">
              <a:buNone/>
            </a:pPr>
            <a:r>
              <a:rPr lang="en-US" sz="2000" dirty="0">
                <a:solidFill>
                  <a:srgbClr val="2B2B2B"/>
                </a:solidFill>
                <a:latin typeface="Calibri" pitchFamily="34" charset="0"/>
                <a:ea typeface="Calibri" pitchFamily="34" charset="-122"/>
                <a:cs typeface="Calibri" pitchFamily="34" charset="-120"/>
              </a:rPr>
              <a:t>Ba câu được chọn trong thân bài.</a:t>
            </a:r>
            <a:endParaRPr lang="en-US" sz="2000" dirty="0"/>
          </a:p>
        </p:txBody>
      </p:sp>
      <p:sp>
        <p:nvSpPr>
          <p:cNvPr id="11" name="Shape 9"/>
          <p:cNvSpPr/>
          <p:nvPr/>
        </p:nvSpPr>
        <p:spPr>
          <a:xfrm>
            <a:off x="8183880" y="1554480"/>
            <a:ext cx="3611880" cy="4297680"/>
          </a:xfrm>
          <a:prstGeom prst="rect">
            <a:avLst/>
          </a:prstGeom>
          <a:solidFill>
            <a:srgbClr val="F2E5D0"/>
          </a:solidFill>
          <a:ln w="9525">
            <a:solidFill>
              <a:srgbClr val="C8C0AE"/>
            </a:solidFill>
            <a:prstDash val="solid"/>
          </a:ln>
        </p:spPr>
      </p:sp>
      <p:sp>
        <p:nvSpPr>
          <p:cNvPr id="12" name="Text 10"/>
          <p:cNvSpPr/>
          <p:nvPr/>
        </p:nvSpPr>
        <p:spPr>
          <a:xfrm>
            <a:off x="8458200" y="1874520"/>
            <a:ext cx="3063240" cy="64008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ViT5</a:t>
            </a:r>
            <a:endParaRPr lang="en-US" sz="2800" dirty="0"/>
          </a:p>
        </p:txBody>
      </p:sp>
      <p:sp>
        <p:nvSpPr>
          <p:cNvPr id="13" name="Text 11"/>
          <p:cNvSpPr/>
          <p:nvPr/>
        </p:nvSpPr>
        <p:spPr>
          <a:xfrm>
            <a:off x="8458200" y="2743200"/>
            <a:ext cx="3063240" cy="2377440"/>
          </a:xfrm>
          <a:prstGeom prst="rect">
            <a:avLst/>
          </a:prstGeom>
          <a:noFill/>
          <a:ln/>
        </p:spPr>
        <p:txBody>
          <a:bodyPr wrap="square" lIns="0" tIns="0" rIns="0" bIns="0" rtlCol="0" anchor="ctr"/>
          <a:lstStyle/>
          <a:p>
            <a:pPr indent="0" marL="0">
              <a:buNone/>
            </a:pPr>
            <a:r>
              <a:rPr lang="en-US" sz="2000" dirty="0">
                <a:solidFill>
                  <a:srgbClr val="2B2B2B"/>
                </a:solidFill>
                <a:latin typeface="Calibri" pitchFamily="34" charset="0"/>
                <a:ea typeface="Calibri" pitchFamily="34" charset="-122"/>
                <a:cs typeface="Calibri" pitchFamily="34" charset="-120"/>
              </a:rPr>
              <a:t>Câu viết mới, lấy từ kết quả đã lưu.</a:t>
            </a:r>
            <a:endParaRPr lang="en-US" sz="2000" dirty="0"/>
          </a:p>
        </p:txBody>
      </p:sp>
      <p:sp>
        <p:nvSpPr>
          <p:cNvPr id="14" name="Text 12"/>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5" name="Text 13"/>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16   KẾT LUẬN</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Và hạn chế</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ViT5 hơn một chút về chữ trùng</a:t>
            </a:r>
            <a:endParaRPr lang="en-US" sz="2800" dirty="0"/>
          </a:p>
        </p:txBody>
      </p:sp>
      <p:sp>
        <p:nvSpPr>
          <p:cNvPr id="5" name="Shape 3"/>
          <p:cNvSpPr/>
          <p:nvPr/>
        </p:nvSpPr>
        <p:spPr>
          <a:xfrm>
            <a:off x="502920" y="1325880"/>
            <a:ext cx="5532120" cy="4709160"/>
          </a:xfrm>
          <a:prstGeom prst="rect">
            <a:avLst/>
          </a:prstGeom>
          <a:solidFill>
            <a:srgbClr val="F7F3E8"/>
          </a:solidFill>
          <a:ln w="9525">
            <a:solidFill>
              <a:srgbClr val="C8C0AE"/>
            </a:solidFill>
            <a:prstDash val="solid"/>
          </a:ln>
        </p:spPr>
      </p:sp>
      <p:sp>
        <p:nvSpPr>
          <p:cNvPr id="6" name="Shape 4"/>
          <p:cNvSpPr/>
          <p:nvPr/>
        </p:nvSpPr>
        <p:spPr>
          <a:xfrm>
            <a:off x="6217920" y="1325880"/>
            <a:ext cx="5486400" cy="4709160"/>
          </a:xfrm>
          <a:prstGeom prst="rect">
            <a:avLst/>
          </a:prstGeom>
          <a:solidFill>
            <a:srgbClr val="F2E5D0"/>
          </a:solidFill>
          <a:ln w="9525">
            <a:solidFill>
              <a:srgbClr val="C8C0AE"/>
            </a:solidFill>
            <a:prstDash val="solid"/>
          </a:ln>
        </p:spPr>
      </p:sp>
      <p:sp>
        <p:nvSpPr>
          <p:cNvPr id="7" name="Text 5"/>
          <p:cNvSpPr/>
          <p:nvPr/>
        </p:nvSpPr>
        <p:spPr>
          <a:xfrm>
            <a:off x="731520" y="1554480"/>
            <a:ext cx="507492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Nhận được</a:t>
            </a:r>
            <a:endParaRPr lang="en-US" sz="1600" dirty="0"/>
          </a:p>
        </p:txBody>
      </p:sp>
      <p:sp>
        <p:nvSpPr>
          <p:cNvPr id="8" name="Text 6"/>
          <p:cNvSpPr/>
          <p:nvPr/>
        </p:nvSpPr>
        <p:spPr>
          <a:xfrm>
            <a:off x="731520" y="2103120"/>
            <a:ext cx="5074920" cy="34747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Trên 500 bài, ViT5 có ROUGE cao hơn Lead-3 và TextRank.</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Lead-3 là mốc mạnh vì ý tin thường ở đầu.</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Đọc tay vẫn thấy ViT5 sai tên và sai đồ vật.</a:t>
            </a:r>
            <a:endParaRPr lang="en-US" sz="1800" dirty="0"/>
          </a:p>
        </p:txBody>
      </p:sp>
      <p:sp>
        <p:nvSpPr>
          <p:cNvPr id="9" name="Text 7"/>
          <p:cNvSpPr/>
          <p:nvPr/>
        </p:nvSpPr>
        <p:spPr>
          <a:xfrm>
            <a:off x="6446520" y="1554480"/>
            <a:ext cx="5029200" cy="365760"/>
          </a:xfrm>
          <a:prstGeom prst="rect">
            <a:avLst/>
          </a:prstGeom>
          <a:noFill/>
          <a:ln/>
        </p:spPr>
        <p:txBody>
          <a:bodyPr wrap="square" lIns="0" tIns="0" rIns="0" bIns="0" rtlCol="0" anchor="ctr"/>
          <a:lstStyle/>
          <a:p>
            <a:pPr indent="0" marL="0">
              <a:buNone/>
            </a:pPr>
            <a:r>
              <a:rPr lang="en-US" sz="1600" dirty="0">
                <a:solidFill>
                  <a:srgbClr val="B8432A"/>
                </a:solidFill>
                <a:latin typeface="Calibri" pitchFamily="34" charset="0"/>
                <a:ea typeface="Calibri" pitchFamily="34" charset="-122"/>
                <a:cs typeface="Calibri" pitchFamily="34" charset="-120"/>
              </a:rPr>
              <a:t>Hạn chế</a:t>
            </a:r>
            <a:endParaRPr lang="en-US" sz="1600" dirty="0"/>
          </a:p>
        </p:txBody>
      </p:sp>
      <p:sp>
        <p:nvSpPr>
          <p:cNvPr id="10" name="Text 8"/>
          <p:cNvSpPr/>
          <p:nvPr/>
        </p:nvSpPr>
        <p:spPr>
          <a:xfrm>
            <a:off x="6446520" y="2103120"/>
            <a:ext cx="5029200" cy="34747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ROUGE chỉ đo phần chữ trùng với sapo.</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Nhóm mới đọc khoảng 100 bài.</a:t>
            </a:r>
            <a:endParaRPr lang="en-US" sz="1800" dirty="0"/>
          </a:p>
          <a:p>
            <a:pPr indent="0" marL="0">
              <a:buNone/>
            </a:pPr>
            <a:endParaRPr lang="en-US" sz="1800" dirty="0"/>
          </a:p>
          <a:p>
            <a:pPr indent="0" marL="0">
              <a:buNone/>
            </a:pPr>
            <a:r>
              <a:rPr lang="en-US" sz="1800" dirty="0">
                <a:solidFill>
                  <a:srgbClr val="2B2B2B"/>
                </a:solidFill>
                <a:latin typeface="Calibri" pitchFamily="34" charset="0"/>
                <a:ea typeface="Calibri" pitchFamily="34" charset="-122"/>
                <a:cs typeface="Calibri" pitchFamily="34" charset="-120"/>
              </a:rPr>
              <a:t>Bài báo chấm theo cách khác, nên không đặt bảng đó cạnh bảng của nhóm.</a:t>
            </a:r>
            <a:endParaRPr lang="en-US" sz="1800" dirty="0"/>
          </a:p>
        </p:txBody>
      </p:sp>
      <p:sp>
        <p:nvSpPr>
          <p:cNvPr id="11" name="Text 9"/>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2" name="Text 10"/>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17   NẾU LÀM TIẾP</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Ngoài phạm vi hiện tại</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Ba việc có thể làm sau đồ án này</a:t>
            </a:r>
            <a:endParaRPr lang="en-US" sz="2800" dirty="0"/>
          </a:p>
        </p:txBody>
      </p:sp>
      <p:sp>
        <p:nvSpPr>
          <p:cNvPr id="5" name="Shape 3"/>
          <p:cNvSpPr/>
          <p:nvPr/>
        </p:nvSpPr>
        <p:spPr>
          <a:xfrm>
            <a:off x="502920" y="1371600"/>
            <a:ext cx="11155680" cy="1444752"/>
          </a:xfrm>
          <a:prstGeom prst="rect">
            <a:avLst/>
          </a:prstGeom>
          <a:solidFill>
            <a:srgbClr val="F7F3E8"/>
          </a:solidFill>
          <a:ln w="9525">
            <a:solidFill>
              <a:srgbClr val="C8C0AE"/>
            </a:solidFill>
            <a:prstDash val="solid"/>
          </a:ln>
        </p:spPr>
      </p:sp>
      <p:sp>
        <p:nvSpPr>
          <p:cNvPr id="6" name="Text 4"/>
          <p:cNvSpPr/>
          <p:nvPr/>
        </p:nvSpPr>
        <p:spPr>
          <a:xfrm>
            <a:off x="731520" y="1783080"/>
            <a:ext cx="1005840" cy="50292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01</a:t>
            </a:r>
            <a:endParaRPr lang="en-US" sz="2400" dirty="0"/>
          </a:p>
        </p:txBody>
      </p:sp>
      <p:sp>
        <p:nvSpPr>
          <p:cNvPr id="7" name="Text 5"/>
          <p:cNvSpPr/>
          <p:nvPr/>
        </p:nvSpPr>
        <p:spPr>
          <a:xfrm>
            <a:off x="1920240" y="1572768"/>
            <a:ext cx="9326880" cy="41148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Đọc thêm bài</a:t>
            </a:r>
            <a:endParaRPr lang="en-US" sz="2000" dirty="0"/>
          </a:p>
        </p:txBody>
      </p:sp>
      <p:sp>
        <p:nvSpPr>
          <p:cNvPr id="8" name="Text 6"/>
          <p:cNvSpPr/>
          <p:nvPr/>
        </p:nvSpPr>
        <p:spPr>
          <a:xfrm>
            <a:off x="1920240" y="2084832"/>
            <a:ext cx="932688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Đếm lỗi tên, số và đồ vật. Hiện nhóm mới đọc khoảng 100 bài.</a:t>
            </a:r>
            <a:endParaRPr lang="en-US" sz="1800" dirty="0"/>
          </a:p>
        </p:txBody>
      </p:sp>
      <p:sp>
        <p:nvSpPr>
          <p:cNvPr id="9" name="Shape 7"/>
          <p:cNvSpPr/>
          <p:nvPr/>
        </p:nvSpPr>
        <p:spPr>
          <a:xfrm>
            <a:off x="502920" y="2971800"/>
            <a:ext cx="11155680" cy="1444752"/>
          </a:xfrm>
          <a:prstGeom prst="rect">
            <a:avLst/>
          </a:prstGeom>
          <a:solidFill>
            <a:srgbClr val="F7F3E8"/>
          </a:solidFill>
          <a:ln w="9525">
            <a:solidFill>
              <a:srgbClr val="C8C0AE"/>
            </a:solidFill>
            <a:prstDash val="solid"/>
          </a:ln>
        </p:spPr>
      </p:sp>
      <p:sp>
        <p:nvSpPr>
          <p:cNvPr id="10" name="Text 8"/>
          <p:cNvSpPr/>
          <p:nvPr/>
        </p:nvSpPr>
        <p:spPr>
          <a:xfrm>
            <a:off x="731520" y="3383280"/>
            <a:ext cx="1005840" cy="50292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02</a:t>
            </a:r>
            <a:endParaRPr lang="en-US" sz="2400" dirty="0"/>
          </a:p>
        </p:txBody>
      </p:sp>
      <p:sp>
        <p:nvSpPr>
          <p:cNvPr id="11" name="Text 9"/>
          <p:cNvSpPr/>
          <p:nvPr/>
        </p:nvSpPr>
        <p:spPr>
          <a:xfrm>
            <a:off x="1920240" y="3172968"/>
            <a:ext cx="9326880" cy="41148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Bài gồm nhiều tin</a:t>
            </a:r>
            <a:endParaRPr lang="en-US" sz="2000" dirty="0"/>
          </a:p>
        </p:txBody>
      </p:sp>
      <p:sp>
        <p:nvSpPr>
          <p:cNvPr id="12" name="Text 10"/>
          <p:cNvSpPr/>
          <p:nvPr/>
        </p:nvSpPr>
        <p:spPr>
          <a:xfrm>
            <a:off x="1920240" y="3685032"/>
            <a:ext cx="932688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Một sapo có thể gom vài sự việc. Cần tách tin trước khi tóm.</a:t>
            </a:r>
            <a:endParaRPr lang="en-US" sz="1800" dirty="0"/>
          </a:p>
        </p:txBody>
      </p:sp>
      <p:sp>
        <p:nvSpPr>
          <p:cNvPr id="13" name="Shape 11"/>
          <p:cNvSpPr/>
          <p:nvPr/>
        </p:nvSpPr>
        <p:spPr>
          <a:xfrm>
            <a:off x="502920" y="4572000"/>
            <a:ext cx="11155680" cy="1444752"/>
          </a:xfrm>
          <a:prstGeom prst="rect">
            <a:avLst/>
          </a:prstGeom>
          <a:solidFill>
            <a:srgbClr val="F7F3E8"/>
          </a:solidFill>
          <a:ln w="9525">
            <a:solidFill>
              <a:srgbClr val="C8C0AE"/>
            </a:solidFill>
            <a:prstDash val="solid"/>
          </a:ln>
        </p:spPr>
      </p:sp>
      <p:sp>
        <p:nvSpPr>
          <p:cNvPr id="14" name="Text 12"/>
          <p:cNvSpPr/>
          <p:nvPr/>
        </p:nvSpPr>
        <p:spPr>
          <a:xfrm>
            <a:off x="731520" y="4983480"/>
            <a:ext cx="1005840" cy="502920"/>
          </a:xfrm>
          <a:prstGeom prst="rect">
            <a:avLst/>
          </a:prstGeom>
          <a:noFill/>
          <a:ln/>
        </p:spPr>
        <p:txBody>
          <a:bodyPr wrap="square" lIns="0" tIns="0" rIns="0" bIns="0" rtlCol="0" anchor="ctr"/>
          <a:lstStyle/>
          <a:p>
            <a:pPr indent="0" marL="0">
              <a:buNone/>
            </a:pPr>
            <a:r>
              <a:rPr lang="en-US" sz="2400" dirty="0">
                <a:solidFill>
                  <a:srgbClr val="B8432A"/>
                </a:solidFill>
                <a:latin typeface="Georgia" pitchFamily="34" charset="0"/>
                <a:ea typeface="Georgia" pitchFamily="34" charset="-122"/>
                <a:cs typeface="Georgia" pitchFamily="34" charset="-120"/>
              </a:rPr>
              <a:t>03</a:t>
            </a:r>
            <a:endParaRPr lang="en-US" sz="2400" dirty="0"/>
          </a:p>
        </p:txBody>
      </p:sp>
      <p:sp>
        <p:nvSpPr>
          <p:cNvPr id="15" name="Text 13"/>
          <p:cNvSpPr/>
          <p:nvPr/>
        </p:nvSpPr>
        <p:spPr>
          <a:xfrm>
            <a:off x="1920240" y="4773168"/>
            <a:ext cx="9326880" cy="41148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Nếu có train sau</a:t>
            </a:r>
            <a:endParaRPr lang="en-US" sz="2000" dirty="0"/>
          </a:p>
        </p:txBody>
      </p:sp>
      <p:sp>
        <p:nvSpPr>
          <p:cNvPr id="16" name="Text 14"/>
          <p:cNvSpPr/>
          <p:nvPr/>
        </p:nvSpPr>
        <p:spPr>
          <a:xfrm>
            <a:off x="1920240" y="5285232"/>
            <a:ext cx="9326880" cy="50292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Các bài đang dùng để chấm sẽ để riêng, không đưa vào lúc cập nhật model.</a:t>
            </a:r>
            <a:endParaRPr lang="en-US" sz="1800" dirty="0"/>
          </a:p>
        </p:txBody>
      </p:sp>
      <p:sp>
        <p:nvSpPr>
          <p:cNvPr id="17" name="Text 15"/>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8" name="Text 16"/>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ECE0"/>
        </a:solidFill>
      </p:bgPr>
    </p:bg>
    <p:spTree>
      <p:nvGrpSpPr>
        <p:cNvPr id="1" name=""/>
        <p:cNvGrpSpPr/>
        <p:nvPr/>
      </p:nvGrpSpPr>
      <p:grpSpPr>
        <a:xfrm>
          <a:off x="0" y="0"/>
          <a:ext cx="0" cy="0"/>
          <a:chOff x="0" y="0"/>
          <a:chExt cx="0" cy="0"/>
        </a:xfrm>
      </p:grpSpPr>
      <p:sp>
        <p:nvSpPr>
          <p:cNvPr id="2" name="Text 0"/>
          <p:cNvSpPr/>
          <p:nvPr/>
        </p:nvSpPr>
        <p:spPr>
          <a:xfrm>
            <a:off x="502920" y="256032"/>
            <a:ext cx="7315200" cy="256032"/>
          </a:xfrm>
          <a:prstGeom prst="rect">
            <a:avLst/>
          </a:prstGeom>
          <a:noFill/>
          <a:ln/>
        </p:spPr>
        <p:txBody>
          <a:bodyPr wrap="square" lIns="0" tIns="0" rIns="0" bIns="0" rtlCol="0" anchor="ctr"/>
          <a:lstStyle/>
          <a:p>
            <a:pPr indent="0" marL="0">
              <a:buNone/>
            </a:pPr>
            <a:r>
              <a:rPr lang="en-US" sz="1200" spc="120" kern="0" dirty="0">
                <a:solidFill>
                  <a:srgbClr val="8A8578"/>
                </a:solidFill>
                <a:latin typeface="Calibri" pitchFamily="34" charset="0"/>
                <a:ea typeface="Calibri" pitchFamily="34" charset="-122"/>
                <a:cs typeface="Calibri" pitchFamily="34" charset="-120"/>
              </a:rPr>
              <a:t>18   TÀI LIỆU</a:t>
            </a:r>
            <a:endParaRPr lang="en-US" sz="1200" dirty="0"/>
          </a:p>
        </p:txBody>
      </p:sp>
      <p:sp>
        <p:nvSpPr>
          <p:cNvPr id="3" name="Text 1"/>
          <p:cNvSpPr/>
          <p:nvPr/>
        </p:nvSpPr>
        <p:spPr>
          <a:xfrm>
            <a:off x="6675120" y="256032"/>
            <a:ext cx="5029200" cy="256032"/>
          </a:xfrm>
          <a:prstGeom prst="rect">
            <a:avLst/>
          </a:prstGeom>
          <a:noFill/>
          <a:ln/>
        </p:spPr>
        <p:txBody>
          <a:bodyPr wrap="square" lIns="0" tIns="0" rIns="0" bIns="0" rtlCol="0" anchor="ctr"/>
          <a:lstStyle/>
          <a:p>
            <a:pPr algn="r" indent="0" marL="0">
              <a:buNone/>
            </a:pPr>
            <a:r>
              <a:rPr lang="en-US" sz="1300" dirty="0">
                <a:solidFill>
                  <a:srgbClr val="8A8578"/>
                </a:solidFill>
                <a:latin typeface="Calibri" pitchFamily="34" charset="0"/>
                <a:ea typeface="Calibri" pitchFamily="34" charset="-122"/>
                <a:cs typeface="Calibri" pitchFamily="34" charset="-120"/>
              </a:rPr>
              <a:t>Đã dùng</a:t>
            </a:r>
            <a:endParaRPr lang="en-US" sz="1300" dirty="0"/>
          </a:p>
        </p:txBody>
      </p:sp>
      <p:sp>
        <p:nvSpPr>
          <p:cNvPr id="4" name="Text 2"/>
          <p:cNvSpPr/>
          <p:nvPr/>
        </p:nvSpPr>
        <p:spPr>
          <a:xfrm>
            <a:off x="502920" y="585216"/>
            <a:ext cx="11155680" cy="502920"/>
          </a:xfrm>
          <a:prstGeom prst="rect">
            <a:avLst/>
          </a:prstGeom>
          <a:noFill/>
          <a:ln/>
        </p:spPr>
        <p:txBody>
          <a:bodyPr wrap="square" lIns="0" tIns="0" rIns="0" bIns="0" rtlCol="0" anchor="ctr"/>
          <a:lstStyle/>
          <a:p>
            <a:pPr indent="0" marL="0">
              <a:buNone/>
            </a:pPr>
            <a:r>
              <a:rPr lang="en-US" sz="2800" dirty="0">
                <a:solidFill>
                  <a:srgbClr val="1A1A1A"/>
                </a:solidFill>
                <a:latin typeface="Georgia" pitchFamily="34" charset="0"/>
                <a:ea typeface="Georgia" pitchFamily="34" charset="-122"/>
                <a:cs typeface="Georgia" pitchFamily="34" charset="-120"/>
              </a:rPr>
              <a:t>Tài liệu nhóm đã dùng</a:t>
            </a:r>
            <a:endParaRPr lang="en-US" sz="2800" dirty="0"/>
          </a:p>
        </p:txBody>
      </p:sp>
      <p:sp>
        <p:nvSpPr>
          <p:cNvPr id="5" name="Shape 3"/>
          <p:cNvSpPr/>
          <p:nvPr/>
        </p:nvSpPr>
        <p:spPr>
          <a:xfrm>
            <a:off x="502920" y="1371600"/>
            <a:ext cx="11155680" cy="1051560"/>
          </a:xfrm>
          <a:prstGeom prst="rect">
            <a:avLst/>
          </a:prstGeom>
          <a:solidFill>
            <a:srgbClr val="F7F3E8"/>
          </a:solidFill>
          <a:ln w="9525">
            <a:solidFill>
              <a:srgbClr val="C8C0AE"/>
            </a:solidFill>
            <a:prstDash val="solid"/>
          </a:ln>
        </p:spPr>
      </p:sp>
      <p:sp>
        <p:nvSpPr>
          <p:cNvPr id="6" name="Text 4"/>
          <p:cNvSpPr/>
          <p:nvPr/>
        </p:nvSpPr>
        <p:spPr>
          <a:xfrm>
            <a:off x="731520" y="1664208"/>
            <a:ext cx="237744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Vietnews</a:t>
            </a:r>
            <a:endParaRPr lang="en-US" sz="1800" dirty="0"/>
          </a:p>
        </p:txBody>
      </p:sp>
      <p:sp>
        <p:nvSpPr>
          <p:cNvPr id="7" name="Text 5"/>
          <p:cNvSpPr/>
          <p:nvPr/>
        </p:nvSpPr>
        <p:spPr>
          <a:xfrm>
            <a:off x="3200400" y="1664208"/>
            <a:ext cx="813816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github.com/ThanhChinhBK/vietnews</a:t>
            </a:r>
            <a:endParaRPr lang="en-US" sz="1800" dirty="0"/>
          </a:p>
        </p:txBody>
      </p:sp>
      <p:sp>
        <p:nvSpPr>
          <p:cNvPr id="8" name="Shape 6"/>
          <p:cNvSpPr/>
          <p:nvPr/>
        </p:nvSpPr>
        <p:spPr>
          <a:xfrm>
            <a:off x="502920" y="2560320"/>
            <a:ext cx="11155680" cy="1051560"/>
          </a:xfrm>
          <a:prstGeom prst="rect">
            <a:avLst/>
          </a:prstGeom>
          <a:solidFill>
            <a:srgbClr val="F7F3E8"/>
          </a:solidFill>
          <a:ln w="9525">
            <a:solidFill>
              <a:srgbClr val="C8C0AE"/>
            </a:solidFill>
            <a:prstDash val="solid"/>
          </a:ln>
        </p:spPr>
      </p:sp>
      <p:sp>
        <p:nvSpPr>
          <p:cNvPr id="9" name="Text 7"/>
          <p:cNvSpPr/>
          <p:nvPr/>
        </p:nvSpPr>
        <p:spPr>
          <a:xfrm>
            <a:off x="731520" y="2852928"/>
            <a:ext cx="237744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ViT5</a:t>
            </a:r>
            <a:endParaRPr lang="en-US" sz="1800" dirty="0"/>
          </a:p>
        </p:txBody>
      </p:sp>
      <p:sp>
        <p:nvSpPr>
          <p:cNvPr id="10" name="Text 8"/>
          <p:cNvSpPr/>
          <p:nvPr/>
        </p:nvSpPr>
        <p:spPr>
          <a:xfrm>
            <a:off x="3200400" y="2852928"/>
            <a:ext cx="813816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aclanthology.org/2022.naacl-srw.18</a:t>
            </a:r>
            <a:endParaRPr lang="en-US" sz="1800" dirty="0"/>
          </a:p>
        </p:txBody>
      </p:sp>
      <p:sp>
        <p:nvSpPr>
          <p:cNvPr id="11" name="Shape 9"/>
          <p:cNvSpPr/>
          <p:nvPr/>
        </p:nvSpPr>
        <p:spPr>
          <a:xfrm>
            <a:off x="502920" y="3749040"/>
            <a:ext cx="11155680" cy="1051560"/>
          </a:xfrm>
          <a:prstGeom prst="rect">
            <a:avLst/>
          </a:prstGeom>
          <a:solidFill>
            <a:srgbClr val="F7F3E8"/>
          </a:solidFill>
          <a:ln w="9525">
            <a:solidFill>
              <a:srgbClr val="C8C0AE"/>
            </a:solidFill>
            <a:prstDash val="solid"/>
          </a:ln>
        </p:spPr>
      </p:sp>
      <p:sp>
        <p:nvSpPr>
          <p:cNvPr id="12" name="Text 10"/>
          <p:cNvSpPr/>
          <p:nvPr/>
        </p:nvSpPr>
        <p:spPr>
          <a:xfrm>
            <a:off x="731520" y="4041648"/>
            <a:ext cx="237744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Checkpoint</a:t>
            </a:r>
            <a:endParaRPr lang="en-US" sz="1800" dirty="0"/>
          </a:p>
        </p:txBody>
      </p:sp>
      <p:sp>
        <p:nvSpPr>
          <p:cNvPr id="13" name="Text 11"/>
          <p:cNvSpPr/>
          <p:nvPr/>
        </p:nvSpPr>
        <p:spPr>
          <a:xfrm>
            <a:off x="3200400" y="4041648"/>
            <a:ext cx="813816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huggingface.co/VietAI/vit5-base-vietnews-summarization</a:t>
            </a:r>
            <a:endParaRPr lang="en-US" sz="1800" dirty="0"/>
          </a:p>
        </p:txBody>
      </p:sp>
      <p:sp>
        <p:nvSpPr>
          <p:cNvPr id="14" name="Shape 12"/>
          <p:cNvSpPr/>
          <p:nvPr/>
        </p:nvSpPr>
        <p:spPr>
          <a:xfrm>
            <a:off x="502920" y="4937760"/>
            <a:ext cx="11155680" cy="1051560"/>
          </a:xfrm>
          <a:prstGeom prst="rect">
            <a:avLst/>
          </a:prstGeom>
          <a:solidFill>
            <a:srgbClr val="F7F3E8"/>
          </a:solidFill>
          <a:ln w="9525">
            <a:solidFill>
              <a:srgbClr val="C8C0AE"/>
            </a:solidFill>
            <a:prstDash val="solid"/>
          </a:ln>
        </p:spPr>
      </p:sp>
      <p:sp>
        <p:nvSpPr>
          <p:cNvPr id="15" name="Text 13"/>
          <p:cNvSpPr/>
          <p:nvPr/>
        </p:nvSpPr>
        <p:spPr>
          <a:xfrm>
            <a:off x="731520" y="5230368"/>
            <a:ext cx="2377440" cy="411480"/>
          </a:xfrm>
          <a:prstGeom prst="rect">
            <a:avLst/>
          </a:prstGeom>
          <a:noFill/>
          <a:ln/>
        </p:spPr>
        <p:txBody>
          <a:bodyPr wrap="square" lIns="0" tIns="0" rIns="0" bIns="0" rtlCol="0" anchor="ctr"/>
          <a:lstStyle/>
          <a:p>
            <a:pPr indent="0" marL="0">
              <a:buNone/>
            </a:pPr>
            <a:r>
              <a:rPr lang="en-US" sz="1800" dirty="0">
                <a:solidFill>
                  <a:srgbClr val="B8432A"/>
                </a:solidFill>
                <a:latin typeface="Calibri" pitchFamily="34" charset="0"/>
                <a:ea typeface="Calibri" pitchFamily="34" charset="-122"/>
                <a:cs typeface="Calibri" pitchFamily="34" charset="-120"/>
              </a:rPr>
              <a:t>Repo nhóm</a:t>
            </a:r>
            <a:endParaRPr lang="en-US" sz="1800" dirty="0"/>
          </a:p>
        </p:txBody>
      </p:sp>
      <p:sp>
        <p:nvSpPr>
          <p:cNvPr id="16" name="Text 14"/>
          <p:cNvSpPr/>
          <p:nvPr/>
        </p:nvSpPr>
        <p:spPr>
          <a:xfrm>
            <a:off x="3200400" y="5230368"/>
            <a:ext cx="8138160" cy="411480"/>
          </a:xfrm>
          <a:prstGeom prst="rect">
            <a:avLst/>
          </a:prstGeom>
          <a:noFill/>
          <a:ln/>
        </p:spPr>
        <p:txBody>
          <a:bodyPr wrap="square" lIns="0" tIns="0" rIns="0" bIns="0" rtlCol="0" anchor="ctr"/>
          <a:lstStyle/>
          <a:p>
            <a:pPr indent="0" marL="0">
              <a:buNone/>
            </a:pPr>
            <a:r>
              <a:rPr lang="en-US" sz="1800" dirty="0">
                <a:solidFill>
                  <a:srgbClr val="1A1A1A"/>
                </a:solidFill>
                <a:latin typeface="Calibri" pitchFamily="34" charset="0"/>
                <a:ea typeface="Calibri" pitchFamily="34" charset="-122"/>
                <a:cs typeface="Calibri" pitchFamily="34" charset="-120"/>
              </a:rPr>
              <a:t>github.com/hoangdq08/uit-vietnews-summarization</a:t>
            </a:r>
            <a:endParaRPr lang="en-US" sz="1800" dirty="0"/>
          </a:p>
        </p:txBody>
      </p:sp>
      <p:sp>
        <p:nvSpPr>
          <p:cNvPr id="17" name="Text 15"/>
          <p:cNvSpPr/>
          <p:nvPr/>
        </p:nvSpPr>
        <p:spPr>
          <a:xfrm>
            <a:off x="502920" y="6492240"/>
            <a:ext cx="7315200" cy="201168"/>
          </a:xfrm>
          <a:prstGeom prst="rect">
            <a:avLst/>
          </a:prstGeom>
          <a:noFill/>
          <a:ln/>
        </p:spPr>
        <p:txBody>
          <a:bodyPr wrap="square" lIns="0" tIns="0" rIns="0" bIns="0" rtlCol="0" anchor="ctr"/>
          <a:lstStyle/>
          <a:p>
            <a:pPr indent="0" marL="0">
              <a:buNone/>
            </a:pPr>
            <a:r>
              <a:rPr lang="en-US" sz="1100" dirty="0">
                <a:solidFill>
                  <a:srgbClr val="B5AFA0"/>
                </a:solidFill>
                <a:latin typeface="Calibri" pitchFamily="34" charset="0"/>
                <a:ea typeface="Calibri" pitchFamily="34" charset="-122"/>
                <a:cs typeface="Calibri" pitchFamily="34" charset="-120"/>
              </a:rPr>
              <a:t>CS221 · UIT · Nhóm 14</a:t>
            </a:r>
            <a:endParaRPr lang="en-US" sz="1100" dirty="0"/>
          </a:p>
        </p:txBody>
      </p:sp>
      <p:sp>
        <p:nvSpPr>
          <p:cNvPr id="18" name="Text 16"/>
          <p:cNvSpPr/>
          <p:nvPr/>
        </p:nvSpPr>
        <p:spPr>
          <a:xfrm>
            <a:off x="10424160" y="6492240"/>
            <a:ext cx="1280160" cy="201168"/>
          </a:xfrm>
          <a:prstGeom prst="rect">
            <a:avLst/>
          </a:prstGeom>
          <a:noFill/>
          <a:ln/>
        </p:spPr>
        <p:txBody>
          <a:bodyPr wrap="square" lIns="0" tIns="0" rIns="0" bIns="0" rtlCol="0" anchor="ctr"/>
          <a:lstStyle/>
          <a:p>
            <a:pPr algn="r" indent="0" marL="0">
              <a:buNone/>
            </a:pPr>
            <a:r>
              <a:rPr lang="en-US" sz="1100" dirty="0">
                <a:solidFill>
                  <a:srgbClr val="8A8578"/>
                </a:solidFill>
                <a:latin typeface="Calibri" pitchFamily="34" charset="0"/>
                <a:ea typeface="Calibri" pitchFamily="34" charset="-122"/>
                <a:cs typeface="Calibri" pitchFamily="34" charset="-120"/>
              </a:rPr>
              <a:t>18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 sánh tóm tắt rút trích và tóm lược trên tin tức tiếng Việt</dc:title>
  <dc:subject>Bài bảo vệ đồ án</dc:subject>
  <dc:creator>Nhóm 14 · CS221 · UIT</dc:creator>
  <cp:lastModifiedBy>Nhóm 14 · CS221 · UIT</cp:lastModifiedBy>
  <cp:revision>1</cp:revision>
  <dcterms:created xsi:type="dcterms:W3CDTF">2026-09-29T05:59:52Z</dcterms:created>
  <dcterms:modified xsi:type="dcterms:W3CDTF">2026-09-29T05:59:52Z</dcterms:modified>
</cp:coreProperties>
</file>